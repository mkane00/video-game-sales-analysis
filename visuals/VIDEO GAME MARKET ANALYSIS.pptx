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9"/>
  </p:notesMasterIdLst>
  <p:sldIdLst>
    <p:sldId id="256" r:id="rId2"/>
    <p:sldId id="257" r:id="rId3"/>
    <p:sldId id="258" r:id="rId4"/>
    <p:sldId id="280" r:id="rId5"/>
    <p:sldId id="259" r:id="rId6"/>
    <p:sldId id="260" r:id="rId7"/>
    <p:sldId id="261" r:id="rId8"/>
    <p:sldId id="267" r:id="rId9"/>
    <p:sldId id="268" r:id="rId10"/>
    <p:sldId id="269" r:id="rId11"/>
    <p:sldId id="270" r:id="rId12"/>
    <p:sldId id="271" r:id="rId13"/>
    <p:sldId id="272" r:id="rId14"/>
    <p:sldId id="273" r:id="rId15"/>
    <p:sldId id="276" r:id="rId16"/>
    <p:sldId id="278" r:id="rId17"/>
    <p:sldId id="279" r:id="rId18"/>
  </p:sldIdLst>
  <p:sldSz cx="9144000" cy="5143500" type="screen16x9"/>
  <p:notesSz cx="6858000" cy="9144000"/>
  <p:embeddedFontLst>
    <p:embeddedFont>
      <p:font typeface="Average" panose="020B0604020202020204" charset="0"/>
      <p:regular r:id="rId20"/>
    </p:embeddedFont>
    <p:embeddedFont>
      <p:font typeface="Gill Sans MT" panose="020B0502020104020203" pitchFamily="34" charset="0"/>
      <p:regular r:id="rId21"/>
      <p:bold r:id="rId22"/>
      <p:italic r:id="rId23"/>
      <p:boldItalic r:id="rId24"/>
    </p:embeddedFont>
    <p:embeddedFont>
      <p:font typeface="Lato" panose="020F0502020204030203" pitchFamily="34" charset="0"/>
      <p:regular r:id="rId25"/>
      <p:bold r:id="rId26"/>
      <p:italic r:id="rId27"/>
      <p:boldItalic r:id="rId28"/>
    </p:embeddedFont>
    <p:embeddedFont>
      <p:font typeface="Oswald" panose="00000500000000000000" pitchFamily="2" charset="0"/>
      <p:regular r:id="rId29"/>
      <p:bold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101AAAA-8FB8-4640-A966-8601ACD736F0}">
          <p14:sldIdLst>
            <p14:sldId id="256"/>
            <p14:sldId id="257"/>
            <p14:sldId id="258"/>
          </p14:sldIdLst>
        </p14:section>
        <p14:section name="Summary Section" id="{AD5F5E6F-86C0-48B8-8FDD-B0DED8F088F3}">
          <p14:sldIdLst>
            <p14:sldId id="280"/>
          </p14:sldIdLst>
        </p14:section>
        <p14:section name="Regional Trends:  Descriptive Analysis" id="{C16B853A-EEA2-4A85-97FF-D83FCF7C5372}">
          <p14:sldIdLst>
            <p14:sldId id="259"/>
            <p14:sldId id="260"/>
            <p14:sldId id="261"/>
          </p14:sldIdLst>
        </p14:section>
        <p14:section name="Genre Preferences" id="{51621383-C444-4F33-BE43-E235500C86A9}">
          <p14:sldIdLst>
            <p14:sldId id="267"/>
            <p14:sldId id="268"/>
          </p14:sldIdLst>
        </p14:section>
        <p14:section name="Publishers Performance" id="{28EA9CEE-3440-410F-96A2-591D117EA281}">
          <p14:sldIdLst>
            <p14:sldId id="269"/>
            <p14:sldId id="270"/>
          </p14:sldIdLst>
        </p14:section>
        <p14:section name="Platform Trends" id="{1D629971-8C20-432A-AB4D-DE5D6D2AE59B}">
          <p14:sldIdLst>
            <p14:sldId id="271"/>
            <p14:sldId id="272"/>
          </p14:sldIdLst>
        </p14:section>
        <p14:section name="Future Outlook" id="{E2D61FB5-0759-4F55-8FFD-831012087730}">
          <p14:sldIdLst>
            <p14:sldId id="273"/>
          </p14:sldIdLst>
        </p14:section>
        <p14:section name="Recommendations for 2017" id="{195F956A-50E7-4A35-BE1A-E4CA35D79F7C}">
          <p14:sldIdLst>
            <p14:sldId id="276"/>
            <p14:sldId id="278"/>
          </p14:sldIdLst>
        </p14:section>
        <p14:section name="Conclusion" id="{20BE6406-F0C5-4DB6-A244-DFA82C192802}">
          <p14:sldIdLst>
            <p14:sldId id="279"/>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47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797663-909C-4BE7-B219-4228B25E947C}">
  <a:tblStyle styleId="{8D797663-909C-4BE7-B219-4228B25E947C}" styleName="Table_0">
    <a:wholeTbl>
      <a:tcTxStyle>
        <a:font>
          <a:latin typeface="Arial"/>
          <a:ea typeface="Arial"/>
          <a:cs typeface="Arial"/>
        </a:font>
        <a:srgbClr val="000000"/>
      </a:tcTxStyle>
      <a:tcStyle>
        <a:tcBdr>
          <a:left>
            <a:ln w="6350" cap="flat" cmpd="sng">
              <a:solidFill>
                <a:srgbClr val="333333"/>
              </a:solidFill>
              <a:prstDash val="solid"/>
              <a:round/>
              <a:headEnd type="none" w="sm" len="sm"/>
              <a:tailEnd type="none" w="sm" len="sm"/>
            </a:ln>
          </a:left>
          <a:right>
            <a:ln w="6350" cap="flat" cmpd="sng">
              <a:solidFill>
                <a:srgbClr val="333333"/>
              </a:solidFill>
              <a:prstDash val="solid"/>
              <a:round/>
              <a:headEnd type="none" w="sm" len="sm"/>
              <a:tailEnd type="none" w="sm" len="sm"/>
            </a:ln>
          </a:right>
          <a:top>
            <a:ln w="6350" cap="flat" cmpd="sng">
              <a:solidFill>
                <a:srgbClr val="333333"/>
              </a:solidFill>
              <a:prstDash val="solid"/>
              <a:round/>
              <a:headEnd type="none" w="sm" len="sm"/>
              <a:tailEnd type="none" w="sm" len="sm"/>
            </a:ln>
          </a:top>
          <a:bottom>
            <a:ln w="6350" cap="flat" cmpd="sng">
              <a:solidFill>
                <a:srgbClr val="333333"/>
              </a:solidFill>
              <a:prstDash val="solid"/>
              <a:round/>
              <a:headEnd type="none" w="sm" len="sm"/>
              <a:tailEnd type="none" w="sm" len="sm"/>
            </a:ln>
          </a:bottom>
          <a:insideH>
            <a:ln w="6350" cap="flat" cmpd="sng">
              <a:solidFill>
                <a:srgbClr val="333333"/>
              </a:solidFill>
              <a:prstDash val="solid"/>
              <a:round/>
              <a:headEnd type="none" w="sm" len="sm"/>
              <a:tailEnd type="none" w="sm" len="sm"/>
            </a:ln>
          </a:insideH>
          <a:insideV>
            <a:ln w="6350" cap="flat" cmpd="sng">
              <a:solidFill>
                <a:srgbClr val="333333"/>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68A3874-43D9-4264-9E03-1732FEF052E6}" styleName="Table_1">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22E9C6-9C4A-4E9C-8B4C-80A76C4B0D59}" styleName="Table_2">
    <a:wholeTbl>
      <a:tcTxStyle>
        <a:font>
          <a:latin typeface="Arial"/>
          <a:ea typeface="Arial"/>
          <a:cs typeface="Arial"/>
        </a:font>
        <a:srgbClr val="000000"/>
      </a:tcTxStyle>
      <a:tcStyle>
        <a:tcBdr>
          <a:left>
            <a:ln cap="flat" cmpd="sng">
              <a:solidFill>
                <a:srgbClr val="808080"/>
              </a:solidFill>
              <a:prstDash val="solid"/>
              <a:round/>
              <a:headEnd type="none" w="sm" len="sm"/>
              <a:tailEnd type="none" w="sm" len="sm"/>
            </a:ln>
          </a:left>
          <a:right>
            <a:ln cap="flat" cmpd="sng">
              <a:solidFill>
                <a:srgbClr val="808080"/>
              </a:solidFill>
              <a:prstDash val="solid"/>
              <a:round/>
              <a:headEnd type="none" w="sm" len="sm"/>
              <a:tailEnd type="none" w="sm" len="sm"/>
            </a:ln>
          </a:right>
          <a:top>
            <a:ln cap="flat" cmpd="sng">
              <a:solidFill>
                <a:srgbClr val="808080"/>
              </a:solidFill>
              <a:prstDash val="solid"/>
              <a:round/>
              <a:headEnd type="none" w="sm" len="sm"/>
              <a:tailEnd type="none" w="sm" len="sm"/>
            </a:ln>
          </a:top>
          <a:bottom>
            <a:ln cap="flat" cmpd="sng">
              <a:solidFill>
                <a:srgbClr val="808080"/>
              </a:solidFill>
              <a:prstDash val="solid"/>
              <a:round/>
              <a:headEnd type="none" w="sm" len="sm"/>
              <a:tailEnd type="none" w="sm" len="sm"/>
            </a:ln>
          </a:bottom>
          <a:insideH>
            <a:ln cap="flat" cmpd="sng">
              <a:solidFill>
                <a:srgbClr val="808080"/>
              </a:solidFill>
              <a:prstDash val="solid"/>
              <a:round/>
              <a:headEnd type="none" w="sm" len="sm"/>
              <a:tailEnd type="none" w="sm" len="sm"/>
            </a:ln>
          </a:insideH>
          <a:insideV>
            <a:ln cap="flat" cmpd="sng">
              <a:solidFill>
                <a:srgbClr val="80808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80f9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80f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c6f980f9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c6f980f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c6f980f9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c6f980f9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6f980f91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6f980f91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0b53fa6c8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0b53fa6c8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14300" lvl="0" indent="0" algn="l" rtl="0">
              <a:lnSpc>
                <a:spcPct val="115000"/>
              </a:lnSpc>
              <a:spcBef>
                <a:spcPts val="1200"/>
              </a:spcBef>
              <a:spcAft>
                <a:spcPts val="0"/>
              </a:spcAft>
              <a:buClr>
                <a:schemeClr val="dk1"/>
              </a:buClr>
              <a:buSzPts val="1800"/>
              <a:buFont typeface="Oswald"/>
              <a:buNone/>
            </a:pPr>
            <a:r>
              <a:rPr lang="en-US" sz="1100" dirty="0">
                <a:solidFill>
                  <a:schemeClr val="dk1"/>
                </a:solidFill>
                <a:latin typeface="Oswald"/>
                <a:ea typeface="Oswald"/>
                <a:cs typeface="Oswald"/>
                <a:sym typeface="Oswald"/>
              </a:rPr>
              <a:t>North America has seen a decline in sales participation.</a:t>
            </a:r>
          </a:p>
          <a:p>
            <a:pPr marL="114300" marR="0" lvl="0" indent="0" algn="l" defTabSz="914400" rtl="0" eaLnBrk="1" fontAlgn="auto" latinLnBrk="0" hangingPunct="1">
              <a:lnSpc>
                <a:spcPct val="115000"/>
              </a:lnSpc>
              <a:spcBef>
                <a:spcPts val="1200"/>
              </a:spcBef>
              <a:spcAft>
                <a:spcPts val="0"/>
              </a:spcAft>
              <a:buClr>
                <a:schemeClr val="dk1"/>
              </a:buClr>
              <a:buSzPts val="1800"/>
              <a:buFont typeface="Oswald"/>
              <a:buNone/>
              <a:tabLst/>
              <a:defRPr/>
            </a:pPr>
            <a:r>
              <a:rPr lang="en-US" sz="1100" dirty="0">
                <a:solidFill>
                  <a:schemeClr val="dk1"/>
                </a:solidFill>
                <a:latin typeface="Oswald"/>
                <a:ea typeface="Oswald"/>
                <a:cs typeface="Oswald"/>
                <a:sym typeface="Oswald"/>
              </a:rPr>
              <a:t>Europe represents a growing market with continued investment opportunities.</a:t>
            </a:r>
          </a:p>
          <a:p>
            <a:pPr marL="114300" marR="0" lvl="0" indent="0" algn="l" defTabSz="914400" rtl="0" eaLnBrk="1" fontAlgn="auto" latinLnBrk="0" hangingPunct="1">
              <a:lnSpc>
                <a:spcPct val="115000"/>
              </a:lnSpc>
              <a:spcBef>
                <a:spcPts val="1200"/>
              </a:spcBef>
              <a:spcAft>
                <a:spcPts val="0"/>
              </a:spcAft>
              <a:buClr>
                <a:schemeClr val="dk1"/>
              </a:buClr>
              <a:buSzPts val="1800"/>
              <a:buFont typeface="Oswald"/>
              <a:buNone/>
              <a:tabLst/>
              <a:defRPr/>
            </a:pPr>
            <a:r>
              <a:rPr lang="en-US" sz="1100" dirty="0">
                <a:solidFill>
                  <a:schemeClr val="dk1"/>
                </a:solidFill>
                <a:latin typeface="Oswald"/>
                <a:sym typeface="Oswald"/>
              </a:rPr>
              <a:t>Japan’s </a:t>
            </a:r>
            <a:r>
              <a:rPr lang="en" sz="1100" dirty="0">
                <a:solidFill>
                  <a:schemeClr val="dk1"/>
                </a:solidFill>
                <a:latin typeface="Oswald"/>
                <a:ea typeface="Oswald"/>
                <a:cs typeface="Oswald"/>
                <a:sym typeface="Oswald"/>
              </a:rPr>
              <a:t>market dynamics present opportunities for innovative game designs.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0b53fa6c8b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0b53fa6c8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North America</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Top-selling genres include Action (24%), Shooter, and Sports.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Action games lead the market, indicating a strong consumer preference.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Europe</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Similar genre preferences to North America with Action (26%) leading, followed by Shooter (17%).</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 shared preference for Action games suggests potential for cross-regional game development.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Japan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Strong preference for Role-Playing Games (RPG) at 32% of sales, followed by Action at 21%.</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 focus on RPGs makes Japan a unique market, highlighting the need for local adaptations.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c6f980f91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c6f980f91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0b53fa6c8b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0b53fa6c8b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r>
              <a:rPr lang="en">
                <a:solidFill>
                  <a:schemeClr val="dk1"/>
                </a:solidFill>
                <a:latin typeface="Lato"/>
                <a:ea typeface="Lato"/>
                <a:cs typeface="Lato"/>
                <a:sym typeface="Lato"/>
              </a:rPr>
              <a:t>Japan is a market with specific preferences, and high participation of local publishers focused on new mobile video games. Nintendo is the only publisher participating equally in NA, EU, and JP.</a:t>
            </a:r>
            <a:endParaRPr>
              <a:solidFill>
                <a:schemeClr val="dk1"/>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Lato"/>
                <a:ea typeface="Lato"/>
                <a:cs typeface="Lato"/>
                <a:sym typeface="Lato"/>
              </a:rPr>
              <a:t>North America has an important demand for Microsoft Game Studios games, and joining Europe, there has been a strong preference for games released by Bethesda Softworks over the past two years.</a:t>
            </a:r>
            <a:endParaRPr b="1">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0b53fa6c8b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0b53fa6c8b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c6f980f91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c6f980f91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0b53fa6c8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0b53fa6c8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c6f980f9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c6f980f91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c6f980f91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c6f980f91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0b53fa6c8b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0b53fa6c8b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faa23b612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faa23b612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useBgFill="1">
        <p:nvSpPr>
          <p:cNvPr id="12" name="Freeform 11"/>
          <p:cNvSpPr/>
          <p:nvPr/>
        </p:nvSpPr>
        <p:spPr>
          <a:xfrm>
            <a:off x="-11907" y="0"/>
            <a:ext cx="8762858" cy="4941094"/>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3211693"/>
            <a:ext cx="8496943" cy="1521634"/>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1" y="0"/>
            <a:ext cx="6539684" cy="342658"/>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21350" y="219988"/>
            <a:ext cx="8525337" cy="4313853"/>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668401" y="496992"/>
            <a:ext cx="7316390" cy="2074896"/>
          </a:xfrm>
        </p:spPr>
        <p:txBody>
          <a:bodyPr anchor="b">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rot="21420000">
            <a:off x="737297" y="2628907"/>
            <a:ext cx="7316390" cy="412750"/>
          </a:xfrm>
        </p:spPr>
        <p:txBody>
          <a:bodyPr anchor="t">
            <a:noAutofit/>
          </a:bodyPr>
          <a:lstStyle>
            <a:lvl1pPr marL="0" indent="0" algn="r">
              <a:buNone/>
              <a:defRPr sz="210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3711406" y="3433847"/>
            <a:ext cx="4607740" cy="872334"/>
          </a:xfrm>
        </p:spPr>
        <p:txBody>
          <a:bodyPr/>
          <a:lstStyle>
            <a:lvl1pPr algn="ctr">
              <a:defRPr sz="4050">
                <a:solidFill>
                  <a:schemeClr val="accent1">
                    <a:lumMod val="50000"/>
                  </a:schemeClr>
                </a:solidFill>
              </a:defRPr>
            </a:lvl1pPr>
          </a:lstStyle>
          <a:p>
            <a:fld id="{F7AFFB9B-9FB8-469E-96F9-4D32314110B6}" type="datetimeFigureOut">
              <a:rPr lang="en-US" dirty="0"/>
              <a:t>2/16/2026</a:t>
            </a:fld>
            <a:endParaRPr lang="en-US" dirty="0"/>
          </a:p>
        </p:txBody>
      </p:sp>
      <p:sp>
        <p:nvSpPr>
          <p:cNvPr id="5" name="Footer Placeholder 4"/>
          <p:cNvSpPr>
            <a:spLocks noGrp="1"/>
          </p:cNvSpPr>
          <p:nvPr>
            <p:ph type="ftr" sz="quarter" idx="11"/>
          </p:nvPr>
        </p:nvSpPr>
        <p:spPr>
          <a:xfrm rot="21420000">
            <a:off x="-4170" y="3662268"/>
            <a:ext cx="3035429" cy="896654"/>
          </a:xfrm>
        </p:spPr>
        <p:txBody>
          <a:bodyPr vert="horz" lIns="91440" tIns="45720" rIns="91440" bIns="45720" rtlCol="0" anchor="ctr"/>
          <a:lstStyle>
            <a:lvl1pPr algn="r">
              <a:defRPr lang="en-US" sz="4050" dirty="0"/>
            </a:lvl1pPr>
          </a:lstStyle>
          <a:p>
            <a:endParaRPr lang="en-US" dirty="0"/>
          </a:p>
        </p:txBody>
      </p:sp>
      <p:sp>
        <p:nvSpPr>
          <p:cNvPr id="6" name="Slide Number Placeholder 5"/>
          <p:cNvSpPr>
            <a:spLocks noGrp="1"/>
          </p:cNvSpPr>
          <p:nvPr>
            <p:ph type="sldNum" sz="quarter" idx="12"/>
          </p:nvPr>
        </p:nvSpPr>
        <p:spPr>
          <a:xfrm rot="21420000">
            <a:off x="7388818" y="2874486"/>
            <a:ext cx="680390" cy="373853"/>
          </a:xfrm>
        </p:spPr>
        <p:txBody>
          <a:bodyPr/>
          <a:lstStyle>
            <a:lvl1pPr>
              <a:defRPr sz="1800">
                <a:solidFill>
                  <a:schemeClr val="tx1">
                    <a:lumMod val="75000"/>
                    <a:lumOff val="2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25" name="5-Point Star 24"/>
          <p:cNvSpPr/>
          <p:nvPr/>
        </p:nvSpPr>
        <p:spPr>
          <a:xfrm rot="21420000">
            <a:off x="3166039" y="3833517"/>
            <a:ext cx="386540" cy="386540"/>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3605604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4351" y="1547547"/>
            <a:ext cx="7796030" cy="2483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1852276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4351" y="514351"/>
            <a:ext cx="7796030" cy="2395115"/>
          </a:xfrm>
        </p:spPr>
        <p:txBody>
          <a:bodyPr anchor="b">
            <a:normAutofit/>
          </a:bodyPr>
          <a:lstStyle>
            <a:lvl1pPr algn="l">
              <a:defRPr sz="4050"/>
            </a:lvl1pPr>
          </a:lstStyle>
          <a:p>
            <a:r>
              <a:rPr lang="en-US"/>
              <a:t>Click to edit Master title style</a:t>
            </a:r>
            <a:endParaRPr lang="en-US" dirty="0"/>
          </a:p>
        </p:txBody>
      </p:sp>
      <p:sp>
        <p:nvSpPr>
          <p:cNvPr id="3" name="Text Placeholder 2"/>
          <p:cNvSpPr>
            <a:spLocks noGrp="1"/>
          </p:cNvSpPr>
          <p:nvPr>
            <p:ph type="body" idx="1"/>
          </p:nvPr>
        </p:nvSpPr>
        <p:spPr>
          <a:xfrm>
            <a:off x="514351" y="2806700"/>
            <a:ext cx="7796030" cy="1229711"/>
          </a:xfrm>
        </p:spPr>
        <p:txBody>
          <a:bodyPr anchor="t">
            <a:normAutofit/>
          </a:bodyPr>
          <a:lstStyle>
            <a:lvl1pPr marL="0" indent="0" algn="l">
              <a:buNone/>
              <a:defRPr sz="15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7F47CF-67C9-420C-80A5-E2069FF0C2DF}"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6716329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514351" y="514350"/>
            <a:ext cx="7797662" cy="868605"/>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4350" y="1547547"/>
            <a:ext cx="3816536" cy="248339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495478" y="1547547"/>
            <a:ext cx="3814904" cy="248339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22DC73-F065-42F5-A9F2-D90B2E42A0B3}" type="datetimeFigureOut">
              <a:rPr lang="en-US" dirty="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1566697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514351" y="514350"/>
            <a:ext cx="7796030" cy="8686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8767" y="1547547"/>
            <a:ext cx="3642119" cy="509996"/>
          </a:xfrm>
        </p:spPr>
        <p:txBody>
          <a:bodyPr anchor="b">
            <a:noAutofit/>
          </a:bodyPr>
          <a:lstStyle>
            <a:lvl1pPr marL="0" indent="0">
              <a:lnSpc>
                <a:spcPct val="90000"/>
              </a:lnSpc>
              <a:buNone/>
              <a:defRPr sz="19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3"/>
          <p:cNvSpPr>
            <a:spLocks noGrp="1"/>
          </p:cNvSpPr>
          <p:nvPr>
            <p:ph sz="quarter" idx="13"/>
          </p:nvPr>
        </p:nvSpPr>
        <p:spPr>
          <a:xfrm>
            <a:off x="514352" y="2146300"/>
            <a:ext cx="3816534" cy="188463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644" y="1547547"/>
            <a:ext cx="3648368" cy="509996"/>
          </a:xfrm>
        </p:spPr>
        <p:txBody>
          <a:bodyPr anchor="b">
            <a:noAutofit/>
          </a:bodyPr>
          <a:lstStyle>
            <a:lvl1pPr marL="0" indent="0">
              <a:lnSpc>
                <a:spcPct val="90000"/>
              </a:lnSpc>
              <a:buNone/>
              <a:defRPr sz="19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Content Placeholder 5"/>
          <p:cNvSpPr>
            <a:spLocks noGrp="1"/>
          </p:cNvSpPr>
          <p:nvPr>
            <p:ph sz="quarter" idx="14"/>
          </p:nvPr>
        </p:nvSpPr>
        <p:spPr>
          <a:xfrm>
            <a:off x="4495477" y="2146300"/>
            <a:ext cx="3816535" cy="188463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BEA702-9B29-41CC-9BCC-3DF8A0D379FE}" type="datetimeFigureOut">
              <a:rPr lang="en-US" dirty="0"/>
              <a:t>2/16/2026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3088313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dirty="0"/>
              <a:t>2/16/2026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741827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dirty="0"/>
              <a:t>2/16/2026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3204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232" y="514350"/>
            <a:ext cx="3095145" cy="1517439"/>
          </a:xfrm>
        </p:spPr>
        <p:txBody>
          <a:bodyPr anchor="b">
            <a:normAutofit/>
          </a:bodyPr>
          <a:lstStyle>
            <a:lvl1pPr algn="ctr">
              <a:defRPr sz="2700"/>
            </a:lvl1pPr>
          </a:lstStyle>
          <a:p>
            <a:r>
              <a:rPr lang="en-US"/>
              <a:t>Click to edit Master title style</a:t>
            </a:r>
            <a:endParaRPr lang="en-US" dirty="0"/>
          </a:p>
        </p:txBody>
      </p:sp>
      <p:sp>
        <p:nvSpPr>
          <p:cNvPr id="10" name="Content Placeholder 2"/>
          <p:cNvSpPr>
            <a:spLocks noGrp="1"/>
          </p:cNvSpPr>
          <p:nvPr>
            <p:ph sz="quarter" idx="13"/>
          </p:nvPr>
        </p:nvSpPr>
        <p:spPr>
          <a:xfrm>
            <a:off x="3784600" y="514350"/>
            <a:ext cx="4525781" cy="35165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232" y="2031789"/>
            <a:ext cx="3095146" cy="1999150"/>
          </a:xfrm>
        </p:spPr>
        <p:txBody>
          <a:bodyPr anchor="t">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0C3BFE2-83B7-4B0A-B9D3-AB28331082B3}" type="datetimeFigureOut">
              <a:rPr lang="en-US" dirty="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8086853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514350"/>
            <a:ext cx="4758977" cy="1517439"/>
          </a:xfrm>
        </p:spPr>
        <p:txBody>
          <a:bodyPr anchor="b">
            <a:normAutofit/>
          </a:bodyPr>
          <a:lstStyle>
            <a:lvl1pPr algn="ctr">
              <a:defRPr sz="27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11771" y="0"/>
            <a:ext cx="2698610" cy="3803650"/>
          </a:xfrm>
          <a:ln w="57150" cmpd="thinThick">
            <a:solidFill>
              <a:schemeClr val="bg1">
                <a:lumMod val="50000"/>
              </a:schemeClr>
            </a:solidFill>
            <a:miter lim="800000"/>
          </a:ln>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4351" y="2031789"/>
            <a:ext cx="4758976" cy="1771861"/>
          </a:xfrm>
        </p:spPr>
        <p:txBody>
          <a:bodyPr anchor="t">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2EF78E3-FDA3-4D28-AAA2-0B81F349A39D}" type="datetimeFigureOut">
              <a:rPr lang="en-US" dirty="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6064496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3079749"/>
            <a:ext cx="7796031" cy="441635"/>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4351" y="514350"/>
            <a:ext cx="7794385" cy="2396177"/>
          </a:xfrm>
          <a:ln w="57150" cmpd="thinThick">
            <a:solidFill>
              <a:schemeClr val="bg1">
                <a:lumMod val="50000"/>
              </a:schemeClr>
            </a:solidFill>
            <a:miter lim="800000"/>
          </a:ln>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4335" y="3527192"/>
            <a:ext cx="7796046" cy="511854"/>
          </a:xfrm>
        </p:spPr>
        <p:txBody>
          <a:bodyPr anchor="t"/>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41D2AC3-6A0B-4169-B1EA-E3AE8B351BDD}" type="datetimeFigureOut">
              <a:rPr lang="en-US" dirty="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7767718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1" y="514351"/>
            <a:ext cx="7797677" cy="2396177"/>
          </a:xfrm>
        </p:spPr>
        <p:txBody>
          <a:bodyPr anchor="ctr">
            <a:normAutofit/>
          </a:bodyPr>
          <a:lstStyle>
            <a:lvl1pPr algn="ct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514335" y="3079750"/>
            <a:ext cx="7796047" cy="955205"/>
          </a:xfrm>
        </p:spPr>
        <p:txBody>
          <a:bodyPr anchor="ct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D4B9363-8B87-41B7-9F8E-64519CBB8F34}" type="datetimeFigureOut">
              <a:rPr lang="en-US" dirty="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788806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99" y="514350"/>
            <a:ext cx="7143765" cy="2187528"/>
          </a:xfrm>
        </p:spPr>
        <p:txBody>
          <a:bodyPr anchor="ctr">
            <a:normAutofit/>
          </a:bodyPr>
          <a:lstStyle>
            <a:lvl1pPr algn="ct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162698" y="2707524"/>
            <a:ext cx="6500967" cy="283326"/>
          </a:xfrm>
        </p:spPr>
        <p:txBody>
          <a:bodyPr anchor="t">
            <a:normAutofit/>
          </a:bodyPr>
          <a:lstStyle>
            <a:lvl1pPr marL="0" indent="0" algn="r">
              <a:buNone/>
              <a:defRPr sz="1050">
                <a:solidFill>
                  <a:schemeClr val="tx1">
                    <a:lumMod val="50000"/>
                    <a:lumOff val="50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514351" y="3079751"/>
            <a:ext cx="7797662" cy="951189"/>
          </a:xfrm>
        </p:spPr>
        <p:txBody>
          <a:bodyPr anchor="ct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AEF5746-5284-4951-9F37-7AE924EDBCB7}" type="datetimeFigureOut">
              <a:rPr lang="en-US" dirty="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3" name="TextBox 12"/>
          <p:cNvSpPr txBox="1"/>
          <p:nvPr/>
        </p:nvSpPr>
        <p:spPr>
          <a:xfrm>
            <a:off x="514351" y="669471"/>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4" name="TextBox 13"/>
          <p:cNvSpPr txBox="1"/>
          <p:nvPr/>
        </p:nvSpPr>
        <p:spPr>
          <a:xfrm>
            <a:off x="7854812" y="219212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97253482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4351" y="1292891"/>
            <a:ext cx="7796030" cy="1883876"/>
          </a:xfrm>
        </p:spPr>
        <p:txBody>
          <a:bodyPr anchor="b">
            <a:normAutofit/>
          </a:bodyPr>
          <a:lstStyle>
            <a:lvl1pPr algn="l">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514351" y="3185601"/>
            <a:ext cx="7796030" cy="855483"/>
          </a:xfrm>
        </p:spPr>
        <p:txBody>
          <a:bodyPr anchor="t">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2398B29-7265-4A65-A2A4-6703C057B7C1}" type="datetimeFigureOut">
              <a:rPr lang="en-US" dirty="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5276379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514351" y="514350"/>
            <a:ext cx="7796030" cy="863974"/>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514352" y="1547546"/>
            <a:ext cx="2482596" cy="432197"/>
          </a:xfrm>
        </p:spPr>
        <p:txBody>
          <a:bodyPr anchor="b">
            <a:noAutofit/>
          </a:bodyPr>
          <a:lstStyle>
            <a:lvl1pPr marL="0" indent="0" algn="ctr">
              <a:lnSpc>
                <a:spcPct val="90000"/>
              </a:lnSpc>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514352" y="1979744"/>
            <a:ext cx="2482596" cy="205119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175967" y="1547546"/>
            <a:ext cx="2482596" cy="432197"/>
          </a:xfrm>
        </p:spPr>
        <p:txBody>
          <a:bodyPr anchor="b">
            <a:noAutofit/>
          </a:bodyPr>
          <a:lstStyle>
            <a:lvl1pPr marL="0" indent="0" algn="ctr">
              <a:lnSpc>
                <a:spcPct val="90000"/>
              </a:lnSpc>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175966" y="1979744"/>
            <a:ext cx="2482596" cy="205119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27785" y="1547546"/>
            <a:ext cx="2482596" cy="432197"/>
          </a:xfrm>
        </p:spPr>
        <p:txBody>
          <a:bodyPr anchor="b">
            <a:noAutofit/>
          </a:bodyPr>
          <a:lstStyle>
            <a:lvl1pPr marL="0" indent="0" algn="ctr">
              <a:lnSpc>
                <a:spcPct val="90000"/>
              </a:lnSpc>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827785" y="1979744"/>
            <a:ext cx="2482596" cy="205119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28FBA082-94DF-4C4B-A041-6624924AB0A8}" type="datetimeFigureOut">
              <a:rPr lang="en-US" dirty="0"/>
              <a:t>2/16/2026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0823337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514351" y="514350"/>
            <a:ext cx="7797662" cy="863974"/>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518880" y="2859769"/>
            <a:ext cx="2482596" cy="432197"/>
          </a:xfrm>
        </p:spPr>
        <p:txBody>
          <a:bodyPr anchor="b">
            <a:noAutofit/>
          </a:bodyPr>
          <a:lstStyle>
            <a:lvl1pPr marL="0" indent="0" algn="ctr">
              <a:lnSpc>
                <a:spcPct val="90000"/>
              </a:lnSpc>
              <a:buNone/>
              <a:defRPr sz="16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514335" y="1547547"/>
            <a:ext cx="2482596" cy="1152544"/>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518880" y="3291966"/>
            <a:ext cx="2482596" cy="73897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178058" y="2859769"/>
            <a:ext cx="2482596" cy="432197"/>
          </a:xfrm>
        </p:spPr>
        <p:txBody>
          <a:bodyPr anchor="b">
            <a:noAutofit/>
          </a:bodyPr>
          <a:lstStyle>
            <a:lvl1pPr marL="0" indent="0" algn="ctr">
              <a:lnSpc>
                <a:spcPct val="90000"/>
              </a:lnSpc>
              <a:buNone/>
              <a:defRPr sz="16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176999" y="1547547"/>
            <a:ext cx="2482596" cy="1151428"/>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176999" y="3291965"/>
            <a:ext cx="2482596" cy="73897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26708" y="2859769"/>
            <a:ext cx="2482596" cy="432197"/>
          </a:xfrm>
        </p:spPr>
        <p:txBody>
          <a:bodyPr anchor="b">
            <a:noAutofit/>
          </a:bodyPr>
          <a:lstStyle>
            <a:lvl1pPr marL="0" indent="0" algn="ctr">
              <a:lnSpc>
                <a:spcPct val="90000"/>
              </a:lnSpc>
              <a:buNone/>
              <a:defRPr sz="16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26614" y="1547546"/>
            <a:ext cx="2482596" cy="115289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826614" y="3291963"/>
            <a:ext cx="2482596" cy="738977"/>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27686C4-3AB5-4E0C-86CA-FB108C350AA9}" type="datetimeFigureOut">
              <a:rPr lang="en-US" dirty="0"/>
              <a:t>2/16/2026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1228203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514351" y="1547547"/>
            <a:ext cx="7796030" cy="24833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FF1211-4E0C-4AB3-B04F-585959BDAFE8}"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4142704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1896" y="514350"/>
            <a:ext cx="1698485" cy="351658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514351" y="514350"/>
            <a:ext cx="5928323" cy="3516589"/>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DECAF-D3BE-4069-9C78-642ECCD01477}"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2109244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049373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180381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6447453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9736876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237590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jp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grpSp>
        <p:nvGrpSpPr>
          <p:cNvPr id="10" name="Group 9"/>
          <p:cNvGrpSpPr/>
          <p:nvPr/>
        </p:nvGrpSpPr>
        <p:grpSpPr>
          <a:xfrm>
            <a:off x="-19048" y="0"/>
            <a:ext cx="9004013" cy="498306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14351" y="514350"/>
            <a:ext cx="7797662" cy="86397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4351" y="1547547"/>
            <a:ext cx="7797662" cy="248339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73562" y="4318000"/>
            <a:ext cx="2838450" cy="373853"/>
          </a:xfrm>
          <a:prstGeom prst="rect">
            <a:avLst/>
          </a:prstGeom>
        </p:spPr>
        <p:txBody>
          <a:bodyPr vert="horz" lIns="91440" tIns="45720" rIns="91440" bIns="45720" rtlCol="0" anchor="ctr"/>
          <a:lstStyle>
            <a:lvl1pPr algn="r">
              <a:defRPr sz="2400" cap="all" baseline="0">
                <a:solidFill>
                  <a:schemeClr val="accent1">
                    <a:lumMod val="50000"/>
                  </a:schemeClr>
                </a:solidFill>
              </a:defRPr>
            </a:lvl1pPr>
          </a:lstStyle>
          <a:p>
            <a:fld id="{C35BB1C6-BF8F-4481-8AB2-603A1C8A906A}" type="datetimeFigureOut">
              <a:rPr lang="en-US" dirty="0"/>
              <a:t>2/16/2026</a:t>
            </a:fld>
            <a:endParaRPr lang="en-US" dirty="0"/>
          </a:p>
        </p:txBody>
      </p:sp>
      <p:sp>
        <p:nvSpPr>
          <p:cNvPr id="5" name="Footer Placeholder 4"/>
          <p:cNvSpPr>
            <a:spLocks noGrp="1"/>
          </p:cNvSpPr>
          <p:nvPr>
            <p:ph type="ftr" sz="quarter" idx="3"/>
          </p:nvPr>
        </p:nvSpPr>
        <p:spPr>
          <a:xfrm>
            <a:off x="514351" y="4318000"/>
            <a:ext cx="4124789" cy="373853"/>
          </a:xfrm>
          <a:prstGeom prst="rect">
            <a:avLst/>
          </a:prstGeom>
        </p:spPr>
        <p:txBody>
          <a:bodyPr vert="horz" lIns="91440" tIns="45720" rIns="91440" bIns="45720" rtlCol="0" anchor="ctr"/>
          <a:lstStyle>
            <a:lvl1pPr algn="l">
              <a:defRPr sz="24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4715341" y="4318000"/>
            <a:ext cx="680390" cy="373853"/>
          </a:xfrm>
          <a:prstGeom prst="rect">
            <a:avLst/>
          </a:prstGeom>
        </p:spPr>
        <p:txBody>
          <a:bodyPr vert="horz" lIns="91440" tIns="45720" rIns="91440" bIns="45720" rtlCol="0" anchor="ctr"/>
          <a:lstStyle>
            <a:lvl1pPr algn="ctr">
              <a:defRPr sz="2400" cap="all" baseline="0">
                <a:solidFill>
                  <a:schemeClr val="accent1">
                    <a:lumMod val="50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591509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hf sldNum="0" hdr="0" ftr="0" dt="0"/>
  <p:txStyles>
    <p:titleStyle>
      <a:lvl1pPr algn="l" defTabSz="685800" rtl="0" eaLnBrk="1" latinLnBrk="0" hangingPunct="1">
        <a:lnSpc>
          <a:spcPct val="90000"/>
        </a:lnSpc>
        <a:spcBef>
          <a:spcPct val="0"/>
        </a:spcBef>
        <a:buNone/>
        <a:defRPr sz="4050" kern="1200" cap="all" baseline="0">
          <a:solidFill>
            <a:schemeClr val="accent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60000"/>
        <a:buFont typeface="Arial" panose="020B0604020202020204" pitchFamily="34" charset="0"/>
        <a:buChar char="•"/>
        <a:defRPr sz="1500" kern="1200" cap="all" baseline="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350" kern="1200" cap="all"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200" kern="1200" cap="all" baseline="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slide" Target="slide14.xml"/><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slide" Target="slide12.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slide" Target="slide10.xml"/><Relationship Id="rId5" Type="http://schemas.openxmlformats.org/officeDocument/2006/relationships/image" Target="../media/image7.png"/><Relationship Id="rId15" Type="http://schemas.openxmlformats.org/officeDocument/2006/relationships/slide" Target="slide17.xml"/><Relationship Id="rId10" Type="http://schemas.openxmlformats.org/officeDocument/2006/relationships/slide" Target="slide8.xml"/><Relationship Id="rId4" Type="http://schemas.openxmlformats.org/officeDocument/2006/relationships/image" Target="../media/image6.png"/><Relationship Id="rId9" Type="http://schemas.openxmlformats.org/officeDocument/2006/relationships/slide" Target="slide5.xml"/><Relationship Id="rId14" Type="http://schemas.openxmlformats.org/officeDocument/2006/relationships/slide" Target="slide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500" b="1" dirty="0"/>
              <a:t>Video Game Analysis</a:t>
            </a:r>
            <a:endParaRPr sz="4500" b="1" dirty="0"/>
          </a:p>
          <a:p>
            <a:pPr marL="0" lvl="0" indent="0" algn="ctr" rtl="0">
              <a:spcBef>
                <a:spcPts val="0"/>
              </a:spcBef>
              <a:spcAft>
                <a:spcPts val="0"/>
              </a:spcAft>
              <a:buNone/>
            </a:pPr>
            <a:r>
              <a:rPr lang="en" sz="4500" b="1" dirty="0"/>
              <a:t>GameCo</a:t>
            </a:r>
            <a:endParaRPr sz="4500" b="1" dirty="0"/>
          </a:p>
        </p:txBody>
      </p:sp>
      <p:sp>
        <p:nvSpPr>
          <p:cNvPr id="60" name="Google Shape;60;p13"/>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B</a:t>
            </a:r>
            <a:r>
              <a:rPr lang="en" dirty="0"/>
              <a:t>y Mary Kane</a:t>
            </a:r>
          </a:p>
          <a:p>
            <a:pPr marL="0" lvl="0" indent="0" algn="ctr" rtl="0">
              <a:spcBef>
                <a:spcPts val="0"/>
              </a:spcBef>
              <a:spcAft>
                <a:spcPts val="0"/>
              </a:spcAft>
              <a:buNone/>
            </a:pPr>
            <a:r>
              <a:rPr lang="en" dirty="0"/>
              <a:t>October2024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66" name="Google Shape;66;p1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chemeClr val="dk1"/>
              </a:buClr>
              <a:buSzPts val="1400"/>
              <a:buFont typeface="Oswald"/>
              <a:buChar char="❖"/>
            </a:pPr>
            <a:r>
              <a:rPr lang="en" sz="1200" dirty="0">
                <a:solidFill>
                  <a:schemeClr val="dk1"/>
                </a:solidFill>
                <a:latin typeface="Gill Sans MT" panose="020B0502020104020203" pitchFamily="34" charset="0"/>
                <a:ea typeface="Oswald"/>
                <a:cs typeface="Oswald"/>
                <a:sym typeface="Oswald"/>
              </a:rPr>
              <a:t>This analysis will evaluate the Video Game market behavior from 1980 to 2016 with the intention to Identify the trends in North America, Europe and Japan markets by understanding each region’s preferences, and the publishers behind their sales in the past eight years (2008 - 2016). </a:t>
            </a:r>
            <a:endParaRPr sz="1200" dirty="0">
              <a:solidFill>
                <a:schemeClr val="dk1"/>
              </a:solidFill>
              <a:latin typeface="Gill Sans MT" panose="020B0502020104020203" pitchFamily="34" charset="0"/>
              <a:ea typeface="Oswald"/>
              <a:cs typeface="Oswald"/>
              <a:sym typeface="Oswald"/>
            </a:endParaRPr>
          </a:p>
          <a:p>
            <a:pPr marL="457200" lvl="0" indent="-317500" algn="just" rtl="0">
              <a:spcBef>
                <a:spcPts val="0"/>
              </a:spcBef>
              <a:spcAft>
                <a:spcPts val="0"/>
              </a:spcAft>
              <a:buClr>
                <a:schemeClr val="dk1"/>
              </a:buClr>
              <a:buSzPts val="1400"/>
              <a:buFont typeface="Oswald"/>
              <a:buChar char="❖"/>
            </a:pPr>
            <a:r>
              <a:rPr lang="en" sz="1200" dirty="0">
                <a:solidFill>
                  <a:schemeClr val="dk1"/>
                </a:solidFill>
                <a:latin typeface="Gill Sans MT" panose="020B0502020104020203" pitchFamily="34" charset="0"/>
                <a:ea typeface="Oswald"/>
                <a:cs typeface="Oswald"/>
                <a:sym typeface="Oswald"/>
              </a:rPr>
              <a:t>The purpose of predicting the market’s preference on genre and platform is to support the development of a new video game by GameCo that succeeds in the market and represents revenue for the company.</a:t>
            </a:r>
            <a:endParaRPr sz="1200" dirty="0">
              <a:solidFill>
                <a:schemeClr val="dk1"/>
              </a:solidFill>
              <a:latin typeface="Gill Sans MT" panose="020B0502020104020203" pitchFamily="34" charset="0"/>
              <a:ea typeface="Oswald"/>
              <a:cs typeface="Oswald"/>
              <a:sym typeface="Oswald"/>
            </a:endParaRPr>
          </a:p>
          <a:p>
            <a:pPr marL="0" lvl="0" indent="0" algn="l" rtl="0">
              <a:spcBef>
                <a:spcPts val="0"/>
              </a:spcBef>
              <a:spcAft>
                <a:spcPts val="0"/>
              </a:spcAft>
              <a:buNone/>
            </a:pPr>
            <a:endParaRPr sz="1200" b="1" dirty="0">
              <a:solidFill>
                <a:schemeClr val="dk1"/>
              </a:solidFill>
              <a:latin typeface="Gill Sans MT" panose="020B0502020104020203" pitchFamily="34" charset="0"/>
              <a:ea typeface="Oswald"/>
              <a:cs typeface="Oswald"/>
              <a:sym typeface="Oswald"/>
            </a:endParaRPr>
          </a:p>
          <a:p>
            <a:pPr marL="0" lvl="0" indent="0" algn="l" rtl="0">
              <a:spcBef>
                <a:spcPts val="0"/>
              </a:spcBef>
              <a:spcAft>
                <a:spcPts val="0"/>
              </a:spcAft>
              <a:buNone/>
            </a:pPr>
            <a:r>
              <a:rPr lang="en" sz="1200" b="1" dirty="0">
                <a:solidFill>
                  <a:schemeClr val="dk1"/>
                </a:solidFill>
                <a:latin typeface="Gill Sans MT" panose="020B0502020104020203" pitchFamily="34" charset="0"/>
                <a:ea typeface="Oswald"/>
                <a:cs typeface="Oswald"/>
                <a:sym typeface="Oswald"/>
              </a:rPr>
              <a:t>Key questions:</a:t>
            </a:r>
            <a:endParaRPr sz="1200" b="1" dirty="0">
              <a:solidFill>
                <a:schemeClr val="dk1"/>
              </a:solidFill>
              <a:latin typeface="Gill Sans MT" panose="020B0502020104020203" pitchFamily="34" charset="0"/>
              <a:ea typeface="Oswald"/>
              <a:cs typeface="Oswald"/>
              <a:sym typeface="Oswald"/>
            </a:endParaRPr>
          </a:p>
          <a:p>
            <a:pPr marL="457200" lvl="0" indent="-317500" algn="l" rtl="0">
              <a:spcBef>
                <a:spcPts val="0"/>
              </a:spcBef>
              <a:spcAft>
                <a:spcPts val="0"/>
              </a:spcAft>
              <a:buClr>
                <a:schemeClr val="dk1"/>
              </a:buClr>
              <a:buSzPts val="1400"/>
              <a:buFont typeface="Oswald"/>
              <a:buAutoNum type="arabicPeriod"/>
            </a:pPr>
            <a:r>
              <a:rPr lang="en" sz="1200" dirty="0">
                <a:solidFill>
                  <a:schemeClr val="dk1"/>
                </a:solidFill>
                <a:latin typeface="Gill Sans MT" panose="020B0502020104020203" pitchFamily="34" charset="0"/>
                <a:ea typeface="Oswald"/>
                <a:cs typeface="Oswald"/>
                <a:sym typeface="Oswald"/>
              </a:rPr>
              <a:t>What games are more popular?</a:t>
            </a:r>
            <a:endParaRPr sz="1200" dirty="0">
              <a:solidFill>
                <a:schemeClr val="dk1"/>
              </a:solidFill>
              <a:latin typeface="Gill Sans MT" panose="020B0502020104020203" pitchFamily="34" charset="0"/>
              <a:ea typeface="Oswald"/>
              <a:cs typeface="Oswald"/>
              <a:sym typeface="Oswald"/>
            </a:endParaRPr>
          </a:p>
          <a:p>
            <a:pPr marL="457200" lvl="0" indent="-317500" algn="l" rtl="0">
              <a:spcBef>
                <a:spcPts val="0"/>
              </a:spcBef>
              <a:spcAft>
                <a:spcPts val="0"/>
              </a:spcAft>
              <a:buClr>
                <a:schemeClr val="dk1"/>
              </a:buClr>
              <a:buSzPts val="1400"/>
              <a:buFont typeface="Oswald"/>
              <a:buAutoNum type="arabicPeriod"/>
            </a:pPr>
            <a:r>
              <a:rPr lang="en" sz="1200" dirty="0">
                <a:solidFill>
                  <a:schemeClr val="dk1"/>
                </a:solidFill>
                <a:latin typeface="Gill Sans MT" panose="020B0502020104020203" pitchFamily="34" charset="0"/>
                <a:ea typeface="Oswald"/>
                <a:cs typeface="Oswald"/>
                <a:sym typeface="Oswald"/>
              </a:rPr>
              <a:t>Have any games increased or decreased in popularity?</a:t>
            </a:r>
            <a:endParaRPr sz="1200" dirty="0">
              <a:solidFill>
                <a:schemeClr val="dk1"/>
              </a:solidFill>
              <a:latin typeface="Gill Sans MT" panose="020B0502020104020203" pitchFamily="34" charset="0"/>
              <a:ea typeface="Oswald"/>
              <a:cs typeface="Oswald"/>
              <a:sym typeface="Oswald"/>
            </a:endParaRPr>
          </a:p>
          <a:p>
            <a:pPr marL="457200" lvl="0" indent="-317500" algn="l" rtl="0">
              <a:spcBef>
                <a:spcPts val="0"/>
              </a:spcBef>
              <a:spcAft>
                <a:spcPts val="0"/>
              </a:spcAft>
              <a:buClr>
                <a:schemeClr val="dk1"/>
              </a:buClr>
              <a:buSzPts val="1400"/>
              <a:buFont typeface="Oswald"/>
              <a:buAutoNum type="arabicPeriod"/>
            </a:pPr>
            <a:r>
              <a:rPr lang="en" sz="1200" dirty="0">
                <a:solidFill>
                  <a:schemeClr val="dk1"/>
                </a:solidFill>
                <a:latin typeface="Gill Sans MT" panose="020B0502020104020203" pitchFamily="34" charset="0"/>
                <a:ea typeface="Oswald"/>
                <a:cs typeface="Oswald"/>
                <a:sym typeface="Oswald"/>
              </a:rPr>
              <a:t>What genre of the games are performing the best?</a:t>
            </a:r>
            <a:endParaRPr sz="1200" dirty="0">
              <a:solidFill>
                <a:schemeClr val="dk1"/>
              </a:solidFill>
              <a:latin typeface="Gill Sans MT" panose="020B0502020104020203" pitchFamily="34" charset="0"/>
              <a:ea typeface="Oswald"/>
              <a:cs typeface="Oswald"/>
              <a:sym typeface="Oswald"/>
            </a:endParaRPr>
          </a:p>
          <a:p>
            <a:pPr marL="457200" lvl="0" indent="-317500" algn="l" rtl="0">
              <a:spcBef>
                <a:spcPts val="0"/>
              </a:spcBef>
              <a:spcAft>
                <a:spcPts val="0"/>
              </a:spcAft>
              <a:buClr>
                <a:schemeClr val="dk1"/>
              </a:buClr>
              <a:buSzPts val="1400"/>
              <a:buFont typeface="Oswald"/>
              <a:buAutoNum type="arabicPeriod"/>
            </a:pPr>
            <a:r>
              <a:rPr lang="en" sz="1200" dirty="0">
                <a:solidFill>
                  <a:schemeClr val="dk1"/>
                </a:solidFill>
                <a:latin typeface="Gill Sans MT" panose="020B0502020104020203" pitchFamily="34" charset="0"/>
                <a:ea typeface="Oswald"/>
                <a:cs typeface="Oswald"/>
                <a:sym typeface="Oswald"/>
              </a:rPr>
              <a:t>Who are the main Publishers per area?</a:t>
            </a:r>
            <a:endParaRPr sz="1200" dirty="0">
              <a:solidFill>
                <a:schemeClr val="dk1"/>
              </a:solidFill>
              <a:latin typeface="Gill Sans MT" panose="020B0502020104020203" pitchFamily="34" charset="0"/>
              <a:ea typeface="Oswald"/>
              <a:cs typeface="Oswald"/>
              <a:sym typeface="Oswald"/>
            </a:endParaRPr>
          </a:p>
          <a:p>
            <a:pPr marL="457200" lvl="0" indent="-317500" algn="l" rtl="0">
              <a:spcBef>
                <a:spcPts val="0"/>
              </a:spcBef>
              <a:spcAft>
                <a:spcPts val="0"/>
              </a:spcAft>
              <a:buClr>
                <a:schemeClr val="dk1"/>
              </a:buClr>
              <a:buSzPts val="1400"/>
              <a:buFont typeface="Oswald"/>
              <a:buAutoNum type="arabicPeriod"/>
            </a:pPr>
            <a:r>
              <a:rPr lang="en" sz="1200" dirty="0">
                <a:solidFill>
                  <a:schemeClr val="dk1"/>
                </a:solidFill>
                <a:latin typeface="Gill Sans MT" panose="020B0502020104020203" pitchFamily="34" charset="0"/>
                <a:ea typeface="Oswald"/>
                <a:cs typeface="Oswald"/>
                <a:sym typeface="Oswald"/>
              </a:rPr>
              <a:t>What is the publishers participation in North America, Europe and Japan.</a:t>
            </a:r>
            <a:endParaRPr sz="1200" dirty="0">
              <a:solidFill>
                <a:schemeClr val="dk1"/>
              </a:solidFill>
              <a:latin typeface="Gill Sans MT" panose="020B0502020104020203" pitchFamily="34" charset="0"/>
              <a:ea typeface="Oswald"/>
              <a:cs typeface="Oswald"/>
              <a:sym typeface="Oswald"/>
            </a:endParaRPr>
          </a:p>
          <a:p>
            <a:pPr marL="0" lvl="0" indent="0" algn="just" rtl="0">
              <a:spcBef>
                <a:spcPts val="0"/>
              </a:spcBef>
              <a:spcAft>
                <a:spcPts val="0"/>
              </a:spcAft>
              <a:buNone/>
            </a:pPr>
            <a:endParaRPr sz="1100" dirty="0">
              <a:solidFill>
                <a:schemeClr val="dk1"/>
              </a:solidFill>
              <a:latin typeface="Lato"/>
              <a:ea typeface="Lato"/>
              <a:cs typeface="Lato"/>
              <a:sym typeface="Lato"/>
            </a:endParaRPr>
          </a:p>
          <a:p>
            <a:pPr marL="0" lvl="0" indent="0" algn="l" rtl="0">
              <a:spcBef>
                <a:spcPts val="0"/>
              </a:spcBef>
              <a:spcAft>
                <a:spcPts val="0"/>
              </a:spcAft>
              <a:buNone/>
            </a:pPr>
            <a:endParaRPr sz="1100" dirty="0">
              <a:solidFill>
                <a:schemeClr val="dk1"/>
              </a:solidFill>
              <a:latin typeface="Lato"/>
              <a:ea typeface="Lato"/>
              <a:cs typeface="Lato"/>
              <a:sym typeface="Lato"/>
            </a:endParaRPr>
          </a:p>
          <a:p>
            <a:pPr marL="0" lvl="0" indent="0" algn="l" rtl="0">
              <a:spcBef>
                <a:spcPts val="0"/>
              </a:spcBef>
              <a:spcAft>
                <a:spcPts val="0"/>
              </a:spcAft>
              <a:buNone/>
            </a:pPr>
            <a:endParaRPr sz="1100" dirty="0">
              <a:solidFill>
                <a:srgbClr val="0B5394"/>
              </a:solidFill>
              <a:latin typeface="Lato"/>
              <a:ea typeface="Lato"/>
              <a:cs typeface="Lato"/>
              <a:sym typeface="Lato"/>
            </a:endParaRPr>
          </a:p>
          <a:p>
            <a:pPr marL="0" lvl="0" indent="0" algn="l" rtl="0">
              <a:spcBef>
                <a:spcPts val="0"/>
              </a:spcBef>
              <a:spcAft>
                <a:spcPts val="160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Understanding the problem</a:t>
            </a:r>
            <a:endParaRPr/>
          </a:p>
        </p:txBody>
      </p:sp>
      <p:sp>
        <p:nvSpPr>
          <p:cNvPr id="75" name="Google Shape;75;p15"/>
          <p:cNvSpPr txBox="1">
            <a:spLocks noGrp="1"/>
          </p:cNvSpPr>
          <p:nvPr>
            <p:ph type="body" idx="4294967295"/>
          </p:nvPr>
        </p:nvSpPr>
        <p:spPr>
          <a:xfrm>
            <a:off x="0" y="1304925"/>
            <a:ext cx="2493963" cy="4619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Market Penetration</a:t>
            </a:r>
            <a:endParaRPr>
              <a:solidFill>
                <a:schemeClr val="lt1"/>
              </a:solidFill>
            </a:endParaRPr>
          </a:p>
        </p:txBody>
      </p:sp>
      <p:sp>
        <p:nvSpPr>
          <p:cNvPr id="76" name="Google Shape;76;p15"/>
          <p:cNvSpPr txBox="1">
            <a:spLocks noGrp="1"/>
          </p:cNvSpPr>
          <p:nvPr>
            <p:ph type="body" idx="4294967295"/>
          </p:nvPr>
        </p:nvSpPr>
        <p:spPr>
          <a:xfrm>
            <a:off x="506537" y="1927198"/>
            <a:ext cx="2479675" cy="2794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dirty="0"/>
              <a:t>Regional Trends:   Collecting knowledge from the local perspective, it’s preferences, user’s demographics, opportunities, challenges, similarities and differences between NA, EU and JP</a:t>
            </a:r>
            <a:endParaRPr sz="1200" dirty="0"/>
          </a:p>
        </p:txBody>
      </p:sp>
      <p:sp>
        <p:nvSpPr>
          <p:cNvPr id="80" name="Google Shape;80;p15"/>
          <p:cNvSpPr txBox="1">
            <a:spLocks noGrp="1"/>
          </p:cNvSpPr>
          <p:nvPr>
            <p:ph type="body" idx="4294967295"/>
          </p:nvPr>
        </p:nvSpPr>
        <p:spPr>
          <a:xfrm>
            <a:off x="6650038" y="1304925"/>
            <a:ext cx="2493962" cy="4619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New VG that succeed</a:t>
            </a:r>
            <a:endParaRPr>
              <a:solidFill>
                <a:schemeClr val="lt1"/>
              </a:solidFill>
            </a:endParaRPr>
          </a:p>
        </p:txBody>
      </p:sp>
      <p:sp>
        <p:nvSpPr>
          <p:cNvPr id="81" name="Google Shape;81;p15"/>
          <p:cNvSpPr txBox="1">
            <a:spLocks noGrp="1"/>
          </p:cNvSpPr>
          <p:nvPr>
            <p:ph type="body" idx="4294967295"/>
          </p:nvPr>
        </p:nvSpPr>
        <p:spPr>
          <a:xfrm>
            <a:off x="6366213" y="1847081"/>
            <a:ext cx="2478087" cy="2794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dirty="0"/>
              <a:t>The developers need to select the Main elements to include in the game that will meet Global and Local demand. (Genre preferences, platforms and main competitors in each region.)</a:t>
            </a:r>
            <a:endParaRPr sz="1200" dirty="0"/>
          </a:p>
        </p:txBody>
      </p:sp>
      <p:sp>
        <p:nvSpPr>
          <p:cNvPr id="85" name="Google Shape;85;p15"/>
          <p:cNvSpPr txBox="1">
            <a:spLocks noGrp="1"/>
          </p:cNvSpPr>
          <p:nvPr>
            <p:ph type="body" idx="4294967295"/>
          </p:nvPr>
        </p:nvSpPr>
        <p:spPr>
          <a:xfrm>
            <a:off x="6648450" y="1304925"/>
            <a:ext cx="2495550" cy="4619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1"/>
                </a:solidFill>
              </a:rPr>
              <a:t>Swings in the Market</a:t>
            </a:r>
            <a:endParaRPr>
              <a:solidFill>
                <a:schemeClr val="lt1"/>
              </a:solidFill>
            </a:endParaRPr>
          </a:p>
        </p:txBody>
      </p:sp>
      <p:sp>
        <p:nvSpPr>
          <p:cNvPr id="86" name="Google Shape;86;p15"/>
          <p:cNvSpPr txBox="1">
            <a:spLocks noGrp="1"/>
          </p:cNvSpPr>
          <p:nvPr>
            <p:ph type="body" idx="4294967295"/>
          </p:nvPr>
        </p:nvSpPr>
        <p:spPr>
          <a:xfrm>
            <a:off x="3434763" y="1774245"/>
            <a:ext cx="2478087" cy="2794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dirty="0"/>
              <a:t>The Video Game Industry is constantly evolving, GameCo will release a VG that succeed and bring revenue in 2017. This analysis will help with decision making, investments and local marketing campaigns.</a:t>
            </a:r>
            <a:endParaRPr sz="1200" dirty="0"/>
          </a:p>
        </p:txBody>
      </p:sp>
      <p:grpSp>
        <p:nvGrpSpPr>
          <p:cNvPr id="72" name="Google Shape;72;p15"/>
          <p:cNvGrpSpPr/>
          <p:nvPr/>
        </p:nvGrpSpPr>
        <p:grpSpPr>
          <a:xfrm>
            <a:off x="431925" y="1304875"/>
            <a:ext cx="2628925" cy="3416400"/>
            <a:chOff x="431925" y="1304875"/>
            <a:chExt cx="2628925" cy="3416400"/>
          </a:xfrm>
        </p:grpSpPr>
        <p:sp>
          <p:nvSpPr>
            <p:cNvPr id="73" name="Google Shape;73;p15"/>
            <p:cNvSpPr txBox="1"/>
            <p:nvPr/>
          </p:nvSpPr>
          <p:spPr>
            <a:xfrm>
              <a:off x="431925"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a:off x="4319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15"/>
          <p:cNvGrpSpPr/>
          <p:nvPr/>
        </p:nvGrpSpPr>
        <p:grpSpPr>
          <a:xfrm>
            <a:off x="3320450" y="1304875"/>
            <a:ext cx="2632500" cy="3416400"/>
            <a:chOff x="3320450" y="1304875"/>
            <a:chExt cx="2632500" cy="3416400"/>
          </a:xfrm>
        </p:grpSpPr>
        <p:sp>
          <p:nvSpPr>
            <p:cNvPr id="78" name="Google Shape;78;p15"/>
            <p:cNvSpPr txBox="1"/>
            <p:nvPr/>
          </p:nvSpPr>
          <p:spPr>
            <a:xfrm>
              <a:off x="3324050" y="1304875"/>
              <a:ext cx="26289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332045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15"/>
          <p:cNvGrpSpPr/>
          <p:nvPr/>
        </p:nvGrpSpPr>
        <p:grpSpPr>
          <a:xfrm>
            <a:off x="6212550" y="1304875"/>
            <a:ext cx="2632500" cy="3416400"/>
            <a:chOff x="6212550" y="1304875"/>
            <a:chExt cx="2632500" cy="3416400"/>
          </a:xfrm>
        </p:grpSpPr>
        <p:sp>
          <p:nvSpPr>
            <p:cNvPr id="83" name="Google Shape;83;p15"/>
            <p:cNvSpPr/>
            <p:nvPr/>
          </p:nvSpPr>
          <p:spPr>
            <a:xfrm>
              <a:off x="6215400" y="1304875"/>
              <a:ext cx="2628900" cy="3416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txBox="1"/>
            <p:nvPr/>
          </p:nvSpPr>
          <p:spPr>
            <a:xfrm>
              <a:off x="6212550" y="1304875"/>
              <a:ext cx="2632500" cy="46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suz="http://schemas.microsoft.com/office/powerpoint/2016/summaryzoom" Requires="psuz">
          <p:graphicFrame>
            <p:nvGraphicFramePr>
              <p:cNvPr id="3" name="Summary Zoom 2">
                <a:extLst>
                  <a:ext uri="{FF2B5EF4-FFF2-40B4-BE49-F238E27FC236}">
                    <a16:creationId xmlns:a16="http://schemas.microsoft.com/office/drawing/2014/main" id="{839BA4CB-9184-16CF-ED0A-A6E2A1D27E45}"/>
                  </a:ext>
                </a:extLst>
              </p:cNvPr>
              <p:cNvGraphicFramePr>
                <a:graphicFrameLocks noChangeAspect="1"/>
              </p:cNvGraphicFramePr>
              <p:nvPr>
                <p:extLst>
                  <p:ext uri="{D42A27DB-BD31-4B8C-83A1-F6EECF244321}">
                    <p14:modId xmlns:p14="http://schemas.microsoft.com/office/powerpoint/2010/main" val="3097844400"/>
                  </p:ext>
                </p:extLst>
              </p:nvPr>
            </p:nvGraphicFramePr>
            <p:xfrm>
              <a:off x="1524000" y="539750"/>
              <a:ext cx="6096000" cy="4064000"/>
            </p:xfrm>
            <a:graphic>
              <a:graphicData uri="http://schemas.microsoft.com/office/powerpoint/2016/summaryzoom">
                <psuz:summaryZm>
                  <psuz:summaryZmObj sectionId="{C16B853A-EEA2-4A85-97FF-D83FCF7C5372}">
                    <psuz:zmPr id="{B64ED384-D624-42BE-9797-DFB9D4319756}" transitionDur="1000">
                      <p166:blipFill xmlns:p166="http://schemas.microsoft.com/office/powerpoint/2016/6/main">
                        <a:blip r:embed="rId2"/>
                        <a:stretch>
                          <a:fillRect/>
                        </a:stretch>
                      </p166:blipFill>
                      <p166:spPr xmlns:p166="http://schemas.microsoft.com/office/powerpoint/2016/6/main">
                        <a:xfrm>
                          <a:off x="236220" y="420370"/>
                          <a:ext cx="1828800" cy="1028700"/>
                        </a:xfrm>
                        <a:prstGeom prst="rect">
                          <a:avLst/>
                        </a:prstGeom>
                        <a:ln w="3175">
                          <a:solidFill>
                            <a:prstClr val="ltGray"/>
                          </a:solidFill>
                        </a:ln>
                      </p166:spPr>
                    </psuz:zmPr>
                  </psuz:summaryZmObj>
                  <psuz:summaryZmObj sectionId="{51621383-C444-4F33-BE43-E235500C86A9}">
                    <psuz:zmPr id="{12F3264A-8D79-4555-ADAD-6966A7FB1A49}" transitionDur="1000">
                      <p166:blipFill xmlns:p166="http://schemas.microsoft.com/office/powerpoint/2016/6/main">
                        <a:blip r:embed="rId3"/>
                        <a:stretch>
                          <a:fillRect/>
                        </a:stretch>
                      </p166:blipFill>
                      <p166:spPr xmlns:p166="http://schemas.microsoft.com/office/powerpoint/2016/6/main">
                        <a:xfrm>
                          <a:off x="2133600" y="420370"/>
                          <a:ext cx="1828800" cy="1028700"/>
                        </a:xfrm>
                        <a:prstGeom prst="rect">
                          <a:avLst/>
                        </a:prstGeom>
                        <a:ln w="3175">
                          <a:solidFill>
                            <a:prstClr val="ltGray"/>
                          </a:solidFill>
                        </a:ln>
                      </p166:spPr>
                    </psuz:zmPr>
                  </psuz:summaryZmObj>
                  <psuz:summaryZmObj sectionId="{28EA9CEE-3440-410F-96A2-591D117EA281}">
                    <psuz:zmPr id="{B30140D4-40B2-4905-91F7-E96A9F7B3756}" transitionDur="1000">
                      <p166:blipFill xmlns:p166="http://schemas.microsoft.com/office/powerpoint/2016/6/main">
                        <a:blip r:embed="rId4"/>
                        <a:stretch>
                          <a:fillRect/>
                        </a:stretch>
                      </p166:blipFill>
                      <p166:spPr xmlns:p166="http://schemas.microsoft.com/office/powerpoint/2016/6/main">
                        <a:xfrm>
                          <a:off x="4030980" y="420370"/>
                          <a:ext cx="1828800" cy="1028700"/>
                        </a:xfrm>
                        <a:prstGeom prst="rect">
                          <a:avLst/>
                        </a:prstGeom>
                        <a:ln w="3175">
                          <a:solidFill>
                            <a:prstClr val="ltGray"/>
                          </a:solidFill>
                        </a:ln>
                      </p166:spPr>
                    </psuz:zmPr>
                  </psuz:summaryZmObj>
                  <psuz:summaryZmObj sectionId="{1D629971-8C20-432A-AB4D-DE5D6D2AE59B}">
                    <psuz:zmPr id="{B59DCA41-A7B5-4598-8F4E-127C428F1761}" transitionDur="1000">
                      <p166:blipFill xmlns:p166="http://schemas.microsoft.com/office/powerpoint/2016/6/main">
                        <a:blip r:embed="rId5"/>
                        <a:stretch>
                          <a:fillRect/>
                        </a:stretch>
                      </p166:blipFill>
                      <p166:spPr xmlns:p166="http://schemas.microsoft.com/office/powerpoint/2016/6/main">
                        <a:xfrm>
                          <a:off x="236220" y="1517650"/>
                          <a:ext cx="1828800" cy="1028700"/>
                        </a:xfrm>
                        <a:prstGeom prst="rect">
                          <a:avLst/>
                        </a:prstGeom>
                        <a:ln w="3175">
                          <a:solidFill>
                            <a:prstClr val="ltGray"/>
                          </a:solidFill>
                        </a:ln>
                      </p166:spPr>
                    </psuz:zmPr>
                  </psuz:summaryZmObj>
                  <psuz:summaryZmObj sectionId="{E2D61FB5-0759-4F55-8FFD-831012087730}">
                    <psuz:zmPr id="{7FE3274E-4E04-4144-970D-A58EE8B5E3C7}" transitionDur="1000">
                      <p166:blipFill xmlns:p166="http://schemas.microsoft.com/office/powerpoint/2016/6/main">
                        <a:blip r:embed="rId6"/>
                        <a:stretch>
                          <a:fillRect/>
                        </a:stretch>
                      </p166:blipFill>
                      <p166:spPr xmlns:p166="http://schemas.microsoft.com/office/powerpoint/2016/6/main">
                        <a:xfrm>
                          <a:off x="2133600" y="1517650"/>
                          <a:ext cx="1828800" cy="1028700"/>
                        </a:xfrm>
                        <a:prstGeom prst="rect">
                          <a:avLst/>
                        </a:prstGeom>
                        <a:ln w="3175">
                          <a:solidFill>
                            <a:prstClr val="ltGray"/>
                          </a:solidFill>
                        </a:ln>
                      </p166:spPr>
                    </psuz:zmPr>
                  </psuz:summaryZmObj>
                  <psuz:summaryZmObj sectionId="{195F956A-50E7-4A35-BE1A-E4CA35D79F7C}">
                    <psuz:zmPr id="{1624B3AC-AB1C-44E2-B8FC-00F1EB82319D}" transitionDur="1000">
                      <p166:blipFill xmlns:p166="http://schemas.microsoft.com/office/powerpoint/2016/6/main">
                        <a:blip r:embed="rId7"/>
                        <a:stretch>
                          <a:fillRect/>
                        </a:stretch>
                      </p166:blipFill>
                      <p166:spPr xmlns:p166="http://schemas.microsoft.com/office/powerpoint/2016/6/main">
                        <a:xfrm>
                          <a:off x="4030980" y="1517650"/>
                          <a:ext cx="1828800" cy="1028700"/>
                        </a:xfrm>
                        <a:prstGeom prst="rect">
                          <a:avLst/>
                        </a:prstGeom>
                        <a:ln w="3175">
                          <a:solidFill>
                            <a:prstClr val="ltGray"/>
                          </a:solidFill>
                        </a:ln>
                      </p166:spPr>
                    </psuz:zmPr>
                  </psuz:summaryZmObj>
                  <psuz:summaryZmObj sectionId="{20BE6406-F0C5-4DB6-A244-DFA82C192802}" offsetFactorX="103750" offsetFactorY="2020">
                    <psuz:zmPr id="{BDCBC0F2-A4E8-4F1F-B46B-B820E2F7A323}" transitionDur="1000">
                      <p166:blipFill xmlns:p166="http://schemas.microsoft.com/office/powerpoint/2016/6/main">
                        <a:blip r:embed="rId8"/>
                        <a:stretch>
                          <a:fillRect/>
                        </a:stretch>
                      </p166:blipFill>
                      <p166:spPr xmlns:p166="http://schemas.microsoft.com/office/powerpoint/2016/6/main">
                        <a:xfrm>
                          <a:off x="2133600" y="2635710"/>
                          <a:ext cx="1828800" cy="1028700"/>
                        </a:xfrm>
                        <a:prstGeom prst="rect">
                          <a:avLst/>
                        </a:prstGeom>
                        <a:ln w="3175">
                          <a:solidFill>
                            <a:prstClr val="ltGray"/>
                          </a:solidFill>
                        </a:ln>
                      </p166:spPr>
                    </psuz:zmPr>
                  </psuz:summaryZmObj>
                  <psuz:gridLayout/>
                </psuz:summaryZm>
              </a:graphicData>
            </a:graphic>
          </p:graphicFrame>
        </mc:Choice>
        <mc:Fallback>
          <p:grpSp>
            <p:nvGrpSpPr>
              <p:cNvPr id="3" name="Summary Zoom 2">
                <a:extLst>
                  <a:ext uri="{FF2B5EF4-FFF2-40B4-BE49-F238E27FC236}">
                    <a16:creationId xmlns:a16="http://schemas.microsoft.com/office/drawing/2014/main" id="{839BA4CB-9184-16CF-ED0A-A6E2A1D27E45}"/>
                  </a:ext>
                </a:extLst>
              </p:cNvPr>
              <p:cNvGrpSpPr>
                <a:grpSpLocks noGrp="1" noUngrp="1" noRot="1" noChangeAspect="1" noMove="1" noResize="1"/>
              </p:cNvGrpSpPr>
              <p:nvPr/>
            </p:nvGrpSpPr>
            <p:grpSpPr>
              <a:xfrm>
                <a:off x="1524000" y="539750"/>
                <a:ext cx="6096000" cy="4064000"/>
                <a:chOff x="1524000" y="539750"/>
                <a:chExt cx="6096000" cy="4064000"/>
              </a:xfrm>
            </p:grpSpPr>
            <p:pic>
              <p:nvPicPr>
                <p:cNvPr id="2" name="Picture 2">
                  <a:hlinkClick r:id="rId9"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1760220" y="960120"/>
                  <a:ext cx="1828800" cy="1028700"/>
                </a:xfrm>
                <a:prstGeom prst="rect">
                  <a:avLst/>
                </a:prstGeom>
                <a:ln w="3175">
                  <a:solidFill>
                    <a:prstClr val="ltGray"/>
                  </a:solidFill>
                </a:ln>
              </p:spPr>
            </p:pic>
            <p:pic>
              <p:nvPicPr>
                <p:cNvPr id="4" name="Picture 4">
                  <a:hlinkClick r:id="rId10"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3657600" y="960120"/>
                  <a:ext cx="1828800" cy="1028700"/>
                </a:xfrm>
                <a:prstGeom prst="rect">
                  <a:avLst/>
                </a:prstGeom>
                <a:ln w="3175">
                  <a:solidFill>
                    <a:prstClr val="ltGray"/>
                  </a:solidFill>
                </a:ln>
              </p:spPr>
            </p:pic>
            <p:pic>
              <p:nvPicPr>
                <p:cNvPr id="5" name="Picture 5">
                  <a:hlinkClick r:id="rId11"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5554980" y="960120"/>
                  <a:ext cx="1828800" cy="1028700"/>
                </a:xfrm>
                <a:prstGeom prst="rect">
                  <a:avLst/>
                </a:prstGeom>
                <a:ln w="3175">
                  <a:solidFill>
                    <a:prstClr val="ltGray"/>
                  </a:solidFill>
                </a:ln>
              </p:spPr>
            </p:pic>
            <p:pic>
              <p:nvPicPr>
                <p:cNvPr id="6" name="Picture 6">
                  <a:hlinkClick r:id="rId12"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1760220" y="2057400"/>
                  <a:ext cx="1828800" cy="1028700"/>
                </a:xfrm>
                <a:prstGeom prst="rect">
                  <a:avLst/>
                </a:prstGeom>
                <a:ln w="3175">
                  <a:solidFill>
                    <a:prstClr val="ltGray"/>
                  </a:solidFill>
                </a:ln>
              </p:spPr>
            </p:pic>
            <p:pic>
              <p:nvPicPr>
                <p:cNvPr id="7" name="Picture 7">
                  <a:hlinkClick r:id="rId13" action="ppaction://hlinksldjump"/>
                </p:cNvPr>
                <p:cNvPicPr>
                  <a:picLocks noSelect="1" noRot="1" noChangeAspect="1" noMove="1" noResize="1" noEditPoints="1" noAdjustHandles="1" noChangeArrowheads="1" noChangeShapeType="1"/>
                </p:cNvPicPr>
                <p:nvPr/>
              </p:nvPicPr>
              <p:blipFill>
                <a:blip r:embed="rId6"/>
                <a:stretch>
                  <a:fillRect/>
                </a:stretch>
              </p:blipFill>
              <p:spPr>
                <a:xfrm>
                  <a:off x="3657600" y="2057400"/>
                  <a:ext cx="1828800" cy="1028700"/>
                </a:xfrm>
                <a:prstGeom prst="rect">
                  <a:avLst/>
                </a:prstGeom>
                <a:ln w="3175">
                  <a:solidFill>
                    <a:prstClr val="ltGray"/>
                  </a:solidFill>
                </a:ln>
              </p:spPr>
            </p:pic>
            <p:pic>
              <p:nvPicPr>
                <p:cNvPr id="8" name="Picture 8">
                  <a:hlinkClick r:id="rId14" action="ppaction://hlinksldjump"/>
                </p:cNvPr>
                <p:cNvPicPr>
                  <a:picLocks noSelect="1" noRot="1" noChangeAspect="1" noMove="1" noResize="1" noEditPoints="1" noAdjustHandles="1" noChangeArrowheads="1" noChangeShapeType="1"/>
                </p:cNvPicPr>
                <p:nvPr/>
              </p:nvPicPr>
              <p:blipFill>
                <a:blip r:embed="rId7"/>
                <a:stretch>
                  <a:fillRect/>
                </a:stretch>
              </p:blipFill>
              <p:spPr>
                <a:xfrm>
                  <a:off x="5554980" y="2057400"/>
                  <a:ext cx="1828800" cy="1028700"/>
                </a:xfrm>
                <a:prstGeom prst="rect">
                  <a:avLst/>
                </a:prstGeom>
                <a:ln w="3175">
                  <a:solidFill>
                    <a:prstClr val="ltGray"/>
                  </a:solidFill>
                </a:ln>
              </p:spPr>
            </p:pic>
            <p:pic>
              <p:nvPicPr>
                <p:cNvPr id="9" name="Picture 9">
                  <a:hlinkClick r:id="rId15" action="ppaction://hlinksldjump"/>
                </p:cNvPr>
                <p:cNvPicPr>
                  <a:picLocks noSelect="1" noRot="1" noChangeAspect="1" noMove="1" noResize="1" noEditPoints="1" noAdjustHandles="1" noChangeArrowheads="1" noChangeShapeType="1"/>
                </p:cNvPicPr>
                <p:nvPr/>
              </p:nvPicPr>
              <p:blipFill>
                <a:blip r:embed="rId8"/>
                <a:stretch>
                  <a:fillRect/>
                </a:stretch>
              </p:blipFill>
              <p:spPr>
                <a:xfrm>
                  <a:off x="3657600" y="3175460"/>
                  <a:ext cx="1828800" cy="1028700"/>
                </a:xfrm>
                <a:prstGeom prst="rect">
                  <a:avLst/>
                </a:prstGeom>
                <a:ln w="3175">
                  <a:solidFill>
                    <a:prstClr val="ltGray"/>
                  </a:solidFill>
                </a:ln>
              </p:spPr>
            </p:pic>
          </p:grpSp>
        </mc:Fallback>
      </mc:AlternateContent>
    </p:spTree>
    <p:extLst>
      <p:ext uri="{BB962C8B-B14F-4D97-AF65-F5344CB8AC3E}">
        <p14:creationId xmlns:p14="http://schemas.microsoft.com/office/powerpoint/2010/main" val="3514139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6"/>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200" b="1" dirty="0">
                <a:solidFill>
                  <a:schemeClr val="accent1"/>
                </a:solidFill>
              </a:rPr>
              <a:t>Regional Trends: </a:t>
            </a:r>
            <a:endParaRPr sz="4200" b="1" dirty="0">
              <a:solidFill>
                <a:schemeClr val="accent1"/>
              </a:solidFill>
            </a:endParaRPr>
          </a:p>
          <a:p>
            <a:pPr marL="0" lvl="0" indent="0" algn="l" rtl="0">
              <a:spcBef>
                <a:spcPts val="0"/>
              </a:spcBef>
              <a:spcAft>
                <a:spcPts val="0"/>
              </a:spcAft>
              <a:buNone/>
            </a:pPr>
            <a:r>
              <a:rPr lang="en" sz="4200" dirty="0">
                <a:solidFill>
                  <a:schemeClr val="accent1"/>
                </a:solidFill>
              </a:rPr>
              <a:t>Descriptive Analysis</a:t>
            </a:r>
            <a:endParaRPr sz="4200" dirty="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7474F"/>
        </a:solidFill>
        <a:effectLst/>
      </p:bgPr>
    </p:bg>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341850" y="160125"/>
            <a:ext cx="8460300" cy="107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dirty="0">
                <a:solidFill>
                  <a:schemeClr val="accent1"/>
                </a:solidFill>
              </a:rPr>
              <a:t>Region participation in sales over time: </a:t>
            </a:r>
            <a:endParaRPr sz="2700" dirty="0">
              <a:solidFill>
                <a:schemeClr val="accent1"/>
              </a:solidFill>
            </a:endParaRPr>
          </a:p>
          <a:p>
            <a:pPr marL="0" lvl="0" indent="0" algn="l" rtl="0">
              <a:spcBef>
                <a:spcPts val="0"/>
              </a:spcBef>
              <a:spcAft>
                <a:spcPts val="0"/>
              </a:spcAft>
              <a:buNone/>
            </a:pPr>
            <a:r>
              <a:rPr lang="en" sz="1200" dirty="0">
                <a:solidFill>
                  <a:schemeClr val="tx1"/>
                </a:solidFill>
              </a:rPr>
              <a:t>Global sales are progressively decreasing, </a:t>
            </a:r>
            <a:r>
              <a:rPr lang="en-US" sz="1200" dirty="0">
                <a:solidFill>
                  <a:schemeClr val="tx1"/>
                </a:solidFill>
              </a:rPr>
              <a:t>and North America is reducing sales participation, which has</a:t>
            </a:r>
            <a:r>
              <a:rPr lang="en" sz="1200" dirty="0">
                <a:solidFill>
                  <a:schemeClr val="tx1"/>
                </a:solidFill>
              </a:rPr>
              <a:t> opened opportunities to Europe and Japan in the global Video Game market. </a:t>
            </a:r>
            <a:endParaRPr sz="1200" dirty="0">
              <a:solidFill>
                <a:schemeClr val="tx1"/>
              </a:solidFill>
            </a:endParaRPr>
          </a:p>
          <a:p>
            <a:pPr marL="0" lvl="0" indent="0" algn="l" rtl="0">
              <a:spcBef>
                <a:spcPts val="0"/>
              </a:spcBef>
              <a:spcAft>
                <a:spcPts val="0"/>
              </a:spcAft>
              <a:buNone/>
            </a:pPr>
            <a:endParaRPr sz="2400"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pic>
        <p:nvPicPr>
          <p:cNvPr id="97" name="Google Shape;97;p17"/>
          <p:cNvPicPr preferRelativeResize="0"/>
          <p:nvPr/>
        </p:nvPicPr>
        <p:blipFill>
          <a:blip r:embed="rId3">
            <a:alphaModFix/>
          </a:blip>
          <a:stretch>
            <a:fillRect/>
          </a:stretch>
        </p:blipFill>
        <p:spPr>
          <a:xfrm>
            <a:off x="1747022" y="1038427"/>
            <a:ext cx="5450714" cy="3066646"/>
          </a:xfrm>
          <a:prstGeom prst="rect">
            <a:avLst/>
          </a:prstGeom>
          <a:solidFill>
            <a:srgbClr val="37474F"/>
          </a:solid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290512" y="124486"/>
            <a:ext cx="2450306" cy="86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800" cap="none" dirty="0">
                <a:latin typeface="Oswald" panose="00000500000000000000" pitchFamily="2" charset="0"/>
              </a:rPr>
              <a:t>North American Market</a:t>
            </a:r>
          </a:p>
        </p:txBody>
      </p:sp>
      <p:sp>
        <p:nvSpPr>
          <p:cNvPr id="103" name="Google Shape;103;p18"/>
          <p:cNvSpPr txBox="1">
            <a:spLocks noGrp="1"/>
          </p:cNvSpPr>
          <p:nvPr>
            <p:ph type="title" idx="4294967295"/>
          </p:nvPr>
        </p:nvSpPr>
        <p:spPr>
          <a:xfrm>
            <a:off x="57535" y="1805464"/>
            <a:ext cx="1700213" cy="1876425"/>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US" sz="1050" b="1" cap="none" dirty="0">
                <a:solidFill>
                  <a:schemeClr val="tx1"/>
                </a:solidFill>
                <a:latin typeface="Oswald" panose="00000500000000000000" pitchFamily="2" charset="0"/>
              </a:rPr>
              <a:t>Gamer population </a:t>
            </a:r>
            <a:br>
              <a:rPr lang="en-US" sz="1050" b="1" cap="none" dirty="0">
                <a:solidFill>
                  <a:schemeClr val="tx1"/>
                </a:solidFill>
                <a:latin typeface="Oswald" panose="00000500000000000000" pitchFamily="2" charset="0"/>
              </a:rPr>
            </a:br>
            <a:r>
              <a:rPr lang="en-US" sz="1050" cap="none" dirty="0">
                <a:solidFill>
                  <a:schemeClr val="tx1"/>
                </a:solidFill>
                <a:latin typeface="Oswald" panose="00000500000000000000" pitchFamily="2" charset="0"/>
              </a:rPr>
              <a:t>According to data from 2015, 49% of north </a:t>
            </a:r>
            <a:r>
              <a:rPr lang="en-US" sz="1050" cap="none" dirty="0" err="1">
                <a:solidFill>
                  <a:schemeClr val="tx1"/>
                </a:solidFill>
                <a:latin typeface="Oswald" panose="00000500000000000000" pitchFamily="2" charset="0"/>
              </a:rPr>
              <a:t>americans</a:t>
            </a:r>
            <a:r>
              <a:rPr lang="en-US" sz="1050" cap="none" dirty="0">
                <a:solidFill>
                  <a:schemeClr val="tx1"/>
                </a:solidFill>
                <a:latin typeface="Oswald" panose="00000500000000000000" pitchFamily="2" charset="0"/>
              </a:rPr>
              <a:t> (specifically in the united states) reported playing video games, meaning roughly half of the population play video games. </a:t>
            </a:r>
            <a:br>
              <a:rPr lang="en-US" sz="1050" cap="none" dirty="0">
                <a:solidFill>
                  <a:schemeClr val="tx1"/>
                </a:solidFill>
                <a:latin typeface="Oswald" panose="00000500000000000000" pitchFamily="2" charset="0"/>
              </a:rPr>
            </a:br>
            <a:r>
              <a:rPr lang="en-US" sz="1050" cap="none" dirty="0">
                <a:solidFill>
                  <a:schemeClr val="tx1"/>
                </a:solidFill>
                <a:latin typeface="Oswald" panose="00000500000000000000" pitchFamily="2" charset="0"/>
              </a:rPr>
              <a:t>Average gamers age: 31y.O.</a:t>
            </a:r>
            <a:br>
              <a:rPr lang="en-US" sz="1050" cap="none" dirty="0">
                <a:solidFill>
                  <a:schemeClr val="tx1"/>
                </a:solidFill>
                <a:latin typeface="Oswald" panose="00000500000000000000" pitchFamily="2" charset="0"/>
              </a:rPr>
            </a:br>
            <a:br>
              <a:rPr lang="en-US" sz="1050" cap="none" dirty="0">
                <a:solidFill>
                  <a:schemeClr val="tx1"/>
                </a:solidFill>
                <a:latin typeface="Oswald" panose="00000500000000000000" pitchFamily="2" charset="0"/>
              </a:rPr>
            </a:br>
            <a:r>
              <a:rPr lang="en-US" sz="1050" b="1" cap="none" dirty="0">
                <a:solidFill>
                  <a:schemeClr val="tx1"/>
                </a:solidFill>
                <a:latin typeface="Oswald" panose="00000500000000000000" pitchFamily="2" charset="0"/>
              </a:rPr>
              <a:t>Key points:</a:t>
            </a:r>
            <a:br>
              <a:rPr lang="en-US" sz="1050" b="1" cap="none" dirty="0">
                <a:solidFill>
                  <a:schemeClr val="tx1"/>
                </a:solidFill>
                <a:latin typeface="Oswald" panose="00000500000000000000" pitchFamily="2" charset="0"/>
              </a:rPr>
            </a:br>
            <a:r>
              <a:rPr lang="en-US" sz="1050" cap="none" dirty="0">
                <a:solidFill>
                  <a:schemeClr val="tx1"/>
                </a:solidFill>
                <a:latin typeface="Oswald" panose="00000500000000000000" pitchFamily="2" charset="0"/>
              </a:rPr>
              <a:t>Gender:  nearly equal percentages of men (50%) and women (48%) reported playing video games in north </a:t>
            </a:r>
            <a:r>
              <a:rPr lang="en-US" sz="1050" cap="none" dirty="0" err="1">
                <a:solidFill>
                  <a:schemeClr val="tx1"/>
                </a:solidFill>
                <a:latin typeface="Oswald" panose="00000500000000000000" pitchFamily="2" charset="0"/>
              </a:rPr>
              <a:t>america</a:t>
            </a:r>
            <a:r>
              <a:rPr lang="en-US" sz="1050" cap="none" dirty="0">
                <a:solidFill>
                  <a:schemeClr val="tx1"/>
                </a:solidFill>
                <a:latin typeface="Oswald" panose="00000500000000000000" pitchFamily="2" charset="0"/>
              </a:rPr>
              <a:t>.</a:t>
            </a:r>
          </a:p>
        </p:txBody>
      </p:sp>
      <p:graphicFrame>
        <p:nvGraphicFramePr>
          <p:cNvPr id="104" name="Google Shape;104;p18"/>
          <p:cNvGraphicFramePr/>
          <p:nvPr>
            <p:extLst>
              <p:ext uri="{D42A27DB-BD31-4B8C-83A1-F6EECF244321}">
                <p14:modId xmlns:p14="http://schemas.microsoft.com/office/powerpoint/2010/main" val="4005446220"/>
              </p:ext>
            </p:extLst>
          </p:nvPr>
        </p:nvGraphicFramePr>
        <p:xfrm>
          <a:off x="1837910" y="1246386"/>
          <a:ext cx="907254" cy="2807970"/>
        </p:xfrm>
        <a:graphic>
          <a:graphicData uri="http://schemas.openxmlformats.org/drawingml/2006/table">
            <a:tbl>
              <a:tblPr>
                <a:noFill/>
                <a:tableStyleId>{8D797663-909C-4BE7-B219-4228B25E947C}</a:tableStyleId>
              </a:tblPr>
              <a:tblGrid>
                <a:gridCol w="499148">
                  <a:extLst>
                    <a:ext uri="{9D8B030D-6E8A-4147-A177-3AD203B41FA5}">
                      <a16:colId xmlns:a16="http://schemas.microsoft.com/office/drawing/2014/main" val="20000"/>
                    </a:ext>
                  </a:extLst>
                </a:gridCol>
                <a:gridCol w="408106">
                  <a:extLst>
                    <a:ext uri="{9D8B030D-6E8A-4147-A177-3AD203B41FA5}">
                      <a16:colId xmlns:a16="http://schemas.microsoft.com/office/drawing/2014/main" val="20001"/>
                    </a:ext>
                  </a:extLst>
                </a:gridCol>
              </a:tblGrid>
              <a:tr h="195976">
                <a:tc>
                  <a:txBody>
                    <a:bodyPr/>
                    <a:lstStyle/>
                    <a:p>
                      <a:pPr marL="0" lvl="0" indent="0" algn="ctr" rtl="0">
                        <a:lnSpc>
                          <a:spcPct val="115000"/>
                        </a:lnSpc>
                        <a:spcBef>
                          <a:spcPts val="0"/>
                        </a:spcBef>
                        <a:spcAft>
                          <a:spcPts val="0"/>
                        </a:spcAft>
                        <a:buNone/>
                      </a:pPr>
                      <a:r>
                        <a:rPr lang="en" sz="800" b="1" dirty="0"/>
                        <a:t>Year</a:t>
                      </a:r>
                      <a:endParaRPr sz="800" b="1" dirty="0"/>
                    </a:p>
                  </a:txBody>
                  <a:tcPr marL="63500" marR="63500" marT="63500" marB="63500">
                    <a:solidFill>
                      <a:srgbClr val="C9DAF8"/>
                    </a:solidFill>
                  </a:tcPr>
                </a:tc>
                <a:tc>
                  <a:txBody>
                    <a:bodyPr/>
                    <a:lstStyle/>
                    <a:p>
                      <a:pPr marL="0" lvl="0" indent="0" algn="ctr" rtl="0">
                        <a:lnSpc>
                          <a:spcPct val="115000"/>
                        </a:lnSpc>
                        <a:spcBef>
                          <a:spcPts val="0"/>
                        </a:spcBef>
                        <a:spcAft>
                          <a:spcPts val="0"/>
                        </a:spcAft>
                        <a:buNone/>
                      </a:pPr>
                      <a:r>
                        <a:rPr lang="en" sz="800" b="1" dirty="0"/>
                        <a:t>NA </a:t>
                      </a:r>
                      <a:endParaRPr sz="800" b="1" dirty="0"/>
                    </a:p>
                  </a:txBody>
                  <a:tcPr marL="63500" marR="63500" marT="63500" marB="63500">
                    <a:solidFill>
                      <a:srgbClr val="C9DAF8"/>
                    </a:solidFill>
                  </a:tcPr>
                </a:tc>
                <a:extLst>
                  <a:ext uri="{0D108BD9-81ED-4DB2-BD59-A6C34878D82A}">
                    <a16:rowId xmlns:a16="http://schemas.microsoft.com/office/drawing/2014/main" val="10000"/>
                  </a:ext>
                </a:extLst>
              </a:tr>
              <a:tr h="195976">
                <a:tc>
                  <a:txBody>
                    <a:bodyPr/>
                    <a:lstStyle/>
                    <a:p>
                      <a:pPr marL="0" lvl="0" indent="0" algn="l" rtl="0">
                        <a:lnSpc>
                          <a:spcPct val="115000"/>
                        </a:lnSpc>
                        <a:spcBef>
                          <a:spcPts val="0"/>
                        </a:spcBef>
                        <a:spcAft>
                          <a:spcPts val="0"/>
                        </a:spcAft>
                        <a:buNone/>
                      </a:pPr>
                      <a:r>
                        <a:rPr lang="en" sz="800" dirty="0"/>
                        <a:t>2008</a:t>
                      </a:r>
                      <a:endParaRPr sz="800" dirty="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dirty="0"/>
                        <a:t>25%</a:t>
                      </a:r>
                      <a:endParaRPr sz="800" dirty="0"/>
                    </a:p>
                  </a:txBody>
                  <a:tcPr marL="63500" marR="63500" marT="63500" marB="63500">
                    <a:solidFill>
                      <a:srgbClr val="C9DAF8"/>
                    </a:solidFill>
                  </a:tcPr>
                </a:tc>
                <a:extLst>
                  <a:ext uri="{0D108BD9-81ED-4DB2-BD59-A6C34878D82A}">
                    <a16:rowId xmlns:a16="http://schemas.microsoft.com/office/drawing/2014/main" val="10002"/>
                  </a:ext>
                </a:extLst>
              </a:tr>
              <a:tr h="195976">
                <a:tc>
                  <a:txBody>
                    <a:bodyPr/>
                    <a:lstStyle/>
                    <a:p>
                      <a:pPr marL="0" lvl="0" indent="0" algn="l" rtl="0">
                        <a:lnSpc>
                          <a:spcPct val="115000"/>
                        </a:lnSpc>
                        <a:spcBef>
                          <a:spcPts val="0"/>
                        </a:spcBef>
                        <a:spcAft>
                          <a:spcPts val="0"/>
                        </a:spcAft>
                        <a:buNone/>
                      </a:pPr>
                      <a:r>
                        <a:rPr lang="en" sz="800" dirty="0"/>
                        <a:t>2009</a:t>
                      </a:r>
                      <a:endParaRPr sz="800" dirty="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a:t>24%</a:t>
                      </a:r>
                      <a:endParaRPr sz="800"/>
                    </a:p>
                  </a:txBody>
                  <a:tcPr marL="63500" marR="63500" marT="63500" marB="63500">
                    <a:solidFill>
                      <a:srgbClr val="C9DAF8"/>
                    </a:solidFill>
                  </a:tcPr>
                </a:tc>
                <a:extLst>
                  <a:ext uri="{0D108BD9-81ED-4DB2-BD59-A6C34878D82A}">
                    <a16:rowId xmlns:a16="http://schemas.microsoft.com/office/drawing/2014/main" val="10003"/>
                  </a:ext>
                </a:extLst>
              </a:tr>
              <a:tr h="195976">
                <a:tc>
                  <a:txBody>
                    <a:bodyPr/>
                    <a:lstStyle/>
                    <a:p>
                      <a:pPr marL="0" lvl="0" indent="0" algn="l" rtl="0">
                        <a:lnSpc>
                          <a:spcPct val="115000"/>
                        </a:lnSpc>
                        <a:spcBef>
                          <a:spcPts val="0"/>
                        </a:spcBef>
                        <a:spcAft>
                          <a:spcPts val="0"/>
                        </a:spcAft>
                        <a:buNone/>
                      </a:pPr>
                      <a:r>
                        <a:rPr lang="en" sz="800"/>
                        <a:t>2010</a:t>
                      </a:r>
                      <a:endParaRPr sz="80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a:t>24%</a:t>
                      </a:r>
                      <a:endParaRPr sz="800"/>
                    </a:p>
                  </a:txBody>
                  <a:tcPr marL="63500" marR="63500" marT="63500" marB="63500">
                    <a:solidFill>
                      <a:srgbClr val="C9DAF8"/>
                    </a:solidFill>
                  </a:tcPr>
                </a:tc>
                <a:extLst>
                  <a:ext uri="{0D108BD9-81ED-4DB2-BD59-A6C34878D82A}">
                    <a16:rowId xmlns:a16="http://schemas.microsoft.com/office/drawing/2014/main" val="10004"/>
                  </a:ext>
                </a:extLst>
              </a:tr>
              <a:tr h="195976">
                <a:tc>
                  <a:txBody>
                    <a:bodyPr/>
                    <a:lstStyle/>
                    <a:p>
                      <a:pPr marL="0" lvl="0" indent="0" algn="l" rtl="0">
                        <a:lnSpc>
                          <a:spcPct val="115000"/>
                        </a:lnSpc>
                        <a:spcBef>
                          <a:spcPts val="0"/>
                        </a:spcBef>
                        <a:spcAft>
                          <a:spcPts val="0"/>
                        </a:spcAft>
                        <a:buNone/>
                      </a:pPr>
                      <a:r>
                        <a:rPr lang="en" sz="800"/>
                        <a:t>2011</a:t>
                      </a:r>
                      <a:endParaRPr sz="80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a:t>21%</a:t>
                      </a:r>
                      <a:endParaRPr sz="800"/>
                    </a:p>
                  </a:txBody>
                  <a:tcPr marL="63500" marR="63500" marT="63500" marB="63500">
                    <a:solidFill>
                      <a:srgbClr val="C9DAF8"/>
                    </a:solidFill>
                  </a:tcPr>
                </a:tc>
                <a:extLst>
                  <a:ext uri="{0D108BD9-81ED-4DB2-BD59-A6C34878D82A}">
                    <a16:rowId xmlns:a16="http://schemas.microsoft.com/office/drawing/2014/main" val="10005"/>
                  </a:ext>
                </a:extLst>
              </a:tr>
              <a:tr h="195976">
                <a:tc>
                  <a:txBody>
                    <a:bodyPr/>
                    <a:lstStyle/>
                    <a:p>
                      <a:pPr marL="0" lvl="0" indent="0" algn="l" rtl="0">
                        <a:lnSpc>
                          <a:spcPct val="115000"/>
                        </a:lnSpc>
                        <a:spcBef>
                          <a:spcPts val="0"/>
                        </a:spcBef>
                        <a:spcAft>
                          <a:spcPts val="0"/>
                        </a:spcAft>
                        <a:buNone/>
                      </a:pPr>
                      <a:r>
                        <a:rPr lang="en" sz="800"/>
                        <a:t>2012</a:t>
                      </a:r>
                      <a:endParaRPr sz="80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a:t>24%</a:t>
                      </a:r>
                      <a:endParaRPr sz="800"/>
                    </a:p>
                  </a:txBody>
                  <a:tcPr marL="63500" marR="63500" marT="63500" marB="63500">
                    <a:solidFill>
                      <a:srgbClr val="C9DAF8"/>
                    </a:solidFill>
                  </a:tcPr>
                </a:tc>
                <a:extLst>
                  <a:ext uri="{0D108BD9-81ED-4DB2-BD59-A6C34878D82A}">
                    <a16:rowId xmlns:a16="http://schemas.microsoft.com/office/drawing/2014/main" val="10006"/>
                  </a:ext>
                </a:extLst>
              </a:tr>
              <a:tr h="195976">
                <a:tc>
                  <a:txBody>
                    <a:bodyPr/>
                    <a:lstStyle/>
                    <a:p>
                      <a:pPr marL="0" lvl="0" indent="0" algn="l" rtl="0">
                        <a:lnSpc>
                          <a:spcPct val="115000"/>
                        </a:lnSpc>
                        <a:spcBef>
                          <a:spcPts val="0"/>
                        </a:spcBef>
                        <a:spcAft>
                          <a:spcPts val="0"/>
                        </a:spcAft>
                        <a:buNone/>
                      </a:pPr>
                      <a:r>
                        <a:rPr lang="en" sz="800"/>
                        <a:t>2013</a:t>
                      </a:r>
                      <a:endParaRPr sz="80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a:t>28%</a:t>
                      </a:r>
                      <a:endParaRPr sz="800"/>
                    </a:p>
                  </a:txBody>
                  <a:tcPr marL="63500" marR="63500" marT="63500" marB="63500">
                    <a:solidFill>
                      <a:srgbClr val="C9DAF8"/>
                    </a:solidFill>
                  </a:tcPr>
                </a:tc>
                <a:extLst>
                  <a:ext uri="{0D108BD9-81ED-4DB2-BD59-A6C34878D82A}">
                    <a16:rowId xmlns:a16="http://schemas.microsoft.com/office/drawing/2014/main" val="10007"/>
                  </a:ext>
                </a:extLst>
              </a:tr>
              <a:tr h="195976">
                <a:tc>
                  <a:txBody>
                    <a:bodyPr/>
                    <a:lstStyle/>
                    <a:p>
                      <a:pPr marL="0" lvl="0" indent="0" algn="l" rtl="0">
                        <a:lnSpc>
                          <a:spcPct val="115000"/>
                        </a:lnSpc>
                        <a:spcBef>
                          <a:spcPts val="0"/>
                        </a:spcBef>
                        <a:spcAft>
                          <a:spcPts val="0"/>
                        </a:spcAft>
                        <a:buNone/>
                      </a:pPr>
                      <a:r>
                        <a:rPr lang="en" sz="800"/>
                        <a:t>2014</a:t>
                      </a:r>
                      <a:endParaRPr sz="80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a:t>23%</a:t>
                      </a:r>
                      <a:endParaRPr sz="800"/>
                    </a:p>
                  </a:txBody>
                  <a:tcPr marL="63500" marR="63500" marT="63500" marB="63500">
                    <a:solidFill>
                      <a:srgbClr val="C9DAF8"/>
                    </a:solidFill>
                  </a:tcPr>
                </a:tc>
                <a:extLst>
                  <a:ext uri="{0D108BD9-81ED-4DB2-BD59-A6C34878D82A}">
                    <a16:rowId xmlns:a16="http://schemas.microsoft.com/office/drawing/2014/main" val="10008"/>
                  </a:ext>
                </a:extLst>
              </a:tr>
              <a:tr h="195976">
                <a:tc>
                  <a:txBody>
                    <a:bodyPr/>
                    <a:lstStyle/>
                    <a:p>
                      <a:pPr marL="0" lvl="0" indent="0" algn="l" rtl="0">
                        <a:lnSpc>
                          <a:spcPct val="115000"/>
                        </a:lnSpc>
                        <a:spcBef>
                          <a:spcPts val="0"/>
                        </a:spcBef>
                        <a:spcAft>
                          <a:spcPts val="0"/>
                        </a:spcAft>
                        <a:buNone/>
                      </a:pPr>
                      <a:r>
                        <a:rPr lang="en" sz="800"/>
                        <a:t>2015</a:t>
                      </a:r>
                      <a:endParaRPr sz="80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a:t>17%</a:t>
                      </a:r>
                      <a:endParaRPr sz="800"/>
                    </a:p>
                  </a:txBody>
                  <a:tcPr marL="63500" marR="63500" marT="63500" marB="63500">
                    <a:solidFill>
                      <a:srgbClr val="C9DAF8"/>
                    </a:solidFill>
                  </a:tcPr>
                </a:tc>
                <a:extLst>
                  <a:ext uri="{0D108BD9-81ED-4DB2-BD59-A6C34878D82A}">
                    <a16:rowId xmlns:a16="http://schemas.microsoft.com/office/drawing/2014/main" val="10009"/>
                  </a:ext>
                </a:extLst>
              </a:tr>
              <a:tr h="195976">
                <a:tc>
                  <a:txBody>
                    <a:bodyPr/>
                    <a:lstStyle/>
                    <a:p>
                      <a:pPr marL="0" lvl="0" indent="0" algn="l" rtl="0">
                        <a:lnSpc>
                          <a:spcPct val="115000"/>
                        </a:lnSpc>
                        <a:spcBef>
                          <a:spcPts val="0"/>
                        </a:spcBef>
                        <a:spcAft>
                          <a:spcPts val="0"/>
                        </a:spcAft>
                        <a:buNone/>
                      </a:pPr>
                      <a:r>
                        <a:rPr lang="en" sz="800"/>
                        <a:t>2016</a:t>
                      </a:r>
                      <a:endParaRPr sz="80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a:t>7%</a:t>
                      </a:r>
                      <a:endParaRPr sz="800"/>
                    </a:p>
                  </a:txBody>
                  <a:tcPr marL="63500" marR="63500" marT="63500" marB="63500">
                    <a:solidFill>
                      <a:srgbClr val="C9DAF8"/>
                    </a:solidFill>
                  </a:tcPr>
                </a:tc>
                <a:extLst>
                  <a:ext uri="{0D108BD9-81ED-4DB2-BD59-A6C34878D82A}">
                    <a16:rowId xmlns:a16="http://schemas.microsoft.com/office/drawing/2014/main" val="10010"/>
                  </a:ext>
                </a:extLst>
              </a:tr>
              <a:tr h="195976">
                <a:tc>
                  <a:txBody>
                    <a:bodyPr/>
                    <a:lstStyle/>
                    <a:p>
                      <a:pPr marL="0" lvl="0" indent="0" algn="l" rtl="0">
                        <a:lnSpc>
                          <a:spcPct val="115000"/>
                        </a:lnSpc>
                        <a:spcBef>
                          <a:spcPts val="0"/>
                        </a:spcBef>
                        <a:spcAft>
                          <a:spcPts val="0"/>
                        </a:spcAft>
                        <a:buNone/>
                      </a:pPr>
                      <a:r>
                        <a:rPr lang="en" sz="800" b="1" dirty="0"/>
                        <a:t>Total</a:t>
                      </a:r>
                      <a:endParaRPr sz="800" dirty="0"/>
                    </a:p>
                  </a:txBody>
                  <a:tcPr marL="63500" marR="63500" marT="63500" marB="63500">
                    <a:solidFill>
                      <a:srgbClr val="C9DAF8"/>
                    </a:solidFill>
                  </a:tcPr>
                </a:tc>
                <a:tc>
                  <a:txBody>
                    <a:bodyPr/>
                    <a:lstStyle/>
                    <a:p>
                      <a:pPr marL="0" lvl="0" indent="0" algn="l" rtl="0">
                        <a:lnSpc>
                          <a:spcPct val="115000"/>
                        </a:lnSpc>
                        <a:spcBef>
                          <a:spcPts val="0"/>
                        </a:spcBef>
                        <a:spcAft>
                          <a:spcPts val="0"/>
                        </a:spcAft>
                        <a:buNone/>
                      </a:pPr>
                      <a:r>
                        <a:rPr lang="en" sz="800" b="1" dirty="0"/>
                        <a:t>27%</a:t>
                      </a:r>
                      <a:endParaRPr sz="800" dirty="0"/>
                    </a:p>
                  </a:txBody>
                  <a:tcPr marL="63500" marR="63500" marT="63500" marB="63500">
                    <a:solidFill>
                      <a:srgbClr val="C9DAF8"/>
                    </a:solidFill>
                  </a:tcPr>
                </a:tc>
                <a:extLst>
                  <a:ext uri="{0D108BD9-81ED-4DB2-BD59-A6C34878D82A}">
                    <a16:rowId xmlns:a16="http://schemas.microsoft.com/office/drawing/2014/main" val="10011"/>
                  </a:ext>
                </a:extLst>
              </a:tr>
            </a:tbl>
          </a:graphicData>
        </a:graphic>
      </p:graphicFrame>
      <p:cxnSp>
        <p:nvCxnSpPr>
          <p:cNvPr id="4" name="Straight Connector 3">
            <a:extLst>
              <a:ext uri="{FF2B5EF4-FFF2-40B4-BE49-F238E27FC236}">
                <a16:creationId xmlns:a16="http://schemas.microsoft.com/office/drawing/2014/main" id="{AC5703C4-4953-8266-9FF7-2E308995C1DF}"/>
              </a:ext>
            </a:extLst>
          </p:cNvPr>
          <p:cNvCxnSpPr/>
          <p:nvPr/>
        </p:nvCxnSpPr>
        <p:spPr>
          <a:xfrm>
            <a:off x="2993228" y="235744"/>
            <a:ext cx="0" cy="4535612"/>
          </a:xfrm>
          <a:prstGeom prst="line">
            <a:avLst/>
          </a:prstGeom>
          <a:ln>
            <a:solidFill>
              <a:schemeClr val="tx2"/>
            </a:solidFill>
          </a:ln>
        </p:spPr>
        <p:style>
          <a:lnRef idx="1">
            <a:schemeClr val="accent4"/>
          </a:lnRef>
          <a:fillRef idx="0">
            <a:schemeClr val="accent4"/>
          </a:fillRef>
          <a:effectRef idx="0">
            <a:schemeClr val="accent4"/>
          </a:effectRef>
          <a:fontRef idx="minor">
            <a:schemeClr val="tx1"/>
          </a:fontRef>
        </p:style>
      </p:cxnSp>
      <p:cxnSp>
        <p:nvCxnSpPr>
          <p:cNvPr id="5" name="Straight Connector 4">
            <a:extLst>
              <a:ext uri="{FF2B5EF4-FFF2-40B4-BE49-F238E27FC236}">
                <a16:creationId xmlns:a16="http://schemas.microsoft.com/office/drawing/2014/main" id="{5ED22672-FD3F-ACE2-A245-1CE13E459C33}"/>
              </a:ext>
            </a:extLst>
          </p:cNvPr>
          <p:cNvCxnSpPr/>
          <p:nvPr/>
        </p:nvCxnSpPr>
        <p:spPr>
          <a:xfrm>
            <a:off x="6067432" y="235744"/>
            <a:ext cx="0" cy="4535612"/>
          </a:xfrm>
          <a:prstGeom prst="line">
            <a:avLst/>
          </a:prstGeom>
          <a:ln>
            <a:solidFill>
              <a:schemeClr val="tx2"/>
            </a:solidFill>
          </a:ln>
        </p:spPr>
        <p:style>
          <a:lnRef idx="1">
            <a:schemeClr val="accent4"/>
          </a:lnRef>
          <a:fillRef idx="0">
            <a:schemeClr val="accent4"/>
          </a:fillRef>
          <a:effectRef idx="0">
            <a:schemeClr val="accent4"/>
          </a:effectRef>
          <a:fontRef idx="minor">
            <a:schemeClr val="tx1"/>
          </a:fontRef>
        </p:style>
      </p:cxnSp>
      <p:sp>
        <p:nvSpPr>
          <p:cNvPr id="7" name="TextBox 6">
            <a:extLst>
              <a:ext uri="{FF2B5EF4-FFF2-40B4-BE49-F238E27FC236}">
                <a16:creationId xmlns:a16="http://schemas.microsoft.com/office/drawing/2014/main" id="{C760BDB0-2B42-CDCA-C3C9-C8A7D991FA95}"/>
              </a:ext>
            </a:extLst>
          </p:cNvPr>
          <p:cNvSpPr txBox="1"/>
          <p:nvPr/>
        </p:nvSpPr>
        <p:spPr>
          <a:xfrm>
            <a:off x="307269" y="985486"/>
            <a:ext cx="1900155" cy="253916"/>
          </a:xfrm>
          <a:prstGeom prst="rect">
            <a:avLst/>
          </a:prstGeom>
          <a:noFill/>
        </p:spPr>
        <p:txBody>
          <a:bodyPr wrap="square">
            <a:spAutoFit/>
          </a:bodyPr>
          <a:lstStyle/>
          <a:p>
            <a:pPr marL="0" lvl="0" indent="0" algn="l" rtl="0">
              <a:spcBef>
                <a:spcPts val="2100"/>
              </a:spcBef>
              <a:spcAft>
                <a:spcPts val="0"/>
              </a:spcAft>
              <a:buNone/>
            </a:pPr>
            <a:r>
              <a:rPr lang="en-US" sz="1050" dirty="0">
                <a:solidFill>
                  <a:schemeClr val="tx2"/>
                </a:solidFill>
                <a:latin typeface="Oswald" panose="00000500000000000000" pitchFamily="2" charset="0"/>
              </a:rPr>
              <a:t>Region Population 592,296,233</a:t>
            </a:r>
          </a:p>
        </p:txBody>
      </p:sp>
      <p:sp>
        <p:nvSpPr>
          <p:cNvPr id="11" name="TextBox 10">
            <a:extLst>
              <a:ext uri="{FF2B5EF4-FFF2-40B4-BE49-F238E27FC236}">
                <a16:creationId xmlns:a16="http://schemas.microsoft.com/office/drawing/2014/main" id="{11221884-8F60-9A67-6EB7-5C5F90073A95}"/>
              </a:ext>
            </a:extLst>
          </p:cNvPr>
          <p:cNvSpPr txBox="1"/>
          <p:nvPr/>
        </p:nvSpPr>
        <p:spPr>
          <a:xfrm>
            <a:off x="3328980" y="360462"/>
            <a:ext cx="2171700" cy="369332"/>
          </a:xfrm>
          <a:prstGeom prst="rect">
            <a:avLst/>
          </a:prstGeom>
          <a:noFill/>
        </p:spPr>
        <p:txBody>
          <a:bodyPr wrap="square">
            <a:spAutoFit/>
          </a:bodyPr>
          <a:lstStyle/>
          <a:p>
            <a:pPr algn="ctr"/>
            <a:r>
              <a:rPr lang="en" sz="1800" dirty="0">
                <a:solidFill>
                  <a:schemeClr val="accent1"/>
                </a:solidFill>
                <a:latin typeface="Oswald" panose="00000500000000000000" pitchFamily="2" charset="0"/>
              </a:rPr>
              <a:t>European Market</a:t>
            </a:r>
            <a:endParaRPr lang="en-US" sz="1800" dirty="0">
              <a:solidFill>
                <a:schemeClr val="accent1"/>
              </a:solidFill>
              <a:latin typeface="Oswald" panose="00000500000000000000" pitchFamily="2" charset="0"/>
            </a:endParaRPr>
          </a:p>
        </p:txBody>
      </p:sp>
      <p:graphicFrame>
        <p:nvGraphicFramePr>
          <p:cNvPr id="116" name="Google Shape;116;p20"/>
          <p:cNvGraphicFramePr/>
          <p:nvPr>
            <p:extLst>
              <p:ext uri="{D42A27DB-BD31-4B8C-83A1-F6EECF244321}">
                <p14:modId xmlns:p14="http://schemas.microsoft.com/office/powerpoint/2010/main" val="1734068850"/>
              </p:ext>
            </p:extLst>
          </p:nvPr>
        </p:nvGraphicFramePr>
        <p:xfrm>
          <a:off x="3073862" y="1256753"/>
          <a:ext cx="914318" cy="2852817"/>
        </p:xfrm>
        <a:graphic>
          <a:graphicData uri="http://schemas.openxmlformats.org/drawingml/2006/table">
            <a:tbl>
              <a:tblPr>
                <a:noFill/>
                <a:tableStyleId>{8D797663-909C-4BE7-B219-4228B25E947C}</a:tableStyleId>
              </a:tblPr>
              <a:tblGrid>
                <a:gridCol w="457123">
                  <a:extLst>
                    <a:ext uri="{9D8B030D-6E8A-4147-A177-3AD203B41FA5}">
                      <a16:colId xmlns:a16="http://schemas.microsoft.com/office/drawing/2014/main" val="20000"/>
                    </a:ext>
                  </a:extLst>
                </a:gridCol>
                <a:gridCol w="457195">
                  <a:extLst>
                    <a:ext uri="{9D8B030D-6E8A-4147-A177-3AD203B41FA5}">
                      <a16:colId xmlns:a16="http://schemas.microsoft.com/office/drawing/2014/main" val="20001"/>
                    </a:ext>
                  </a:extLst>
                </a:gridCol>
              </a:tblGrid>
              <a:tr h="259347">
                <a:tc>
                  <a:txBody>
                    <a:bodyPr/>
                    <a:lstStyle/>
                    <a:p>
                      <a:pPr marL="0" lvl="0" indent="0" algn="l" rtl="0">
                        <a:lnSpc>
                          <a:spcPct val="115000"/>
                        </a:lnSpc>
                        <a:spcBef>
                          <a:spcPts val="0"/>
                        </a:spcBef>
                        <a:spcAft>
                          <a:spcPts val="0"/>
                        </a:spcAft>
                        <a:buNone/>
                      </a:pPr>
                      <a:r>
                        <a:rPr lang="en" sz="800" b="1" dirty="0"/>
                        <a:t>Year</a:t>
                      </a:r>
                      <a:endParaRPr sz="800" b="1" dirty="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b="1" dirty="0"/>
                        <a:t>EU </a:t>
                      </a:r>
                      <a:endParaRPr sz="800" b="1" dirty="0"/>
                    </a:p>
                  </a:txBody>
                  <a:tcPr marL="63500" marR="63500" marT="63500" marB="63500">
                    <a:solidFill>
                      <a:srgbClr val="FFF2CC"/>
                    </a:solidFill>
                  </a:tcPr>
                </a:tc>
                <a:extLst>
                  <a:ext uri="{0D108BD9-81ED-4DB2-BD59-A6C34878D82A}">
                    <a16:rowId xmlns:a16="http://schemas.microsoft.com/office/drawing/2014/main" val="10000"/>
                  </a:ext>
                </a:extLst>
              </a:tr>
              <a:tr h="259347">
                <a:tc>
                  <a:txBody>
                    <a:bodyPr/>
                    <a:lstStyle/>
                    <a:p>
                      <a:pPr marL="0" lvl="0" indent="0" algn="l" rtl="0">
                        <a:lnSpc>
                          <a:spcPct val="115000"/>
                        </a:lnSpc>
                        <a:spcBef>
                          <a:spcPts val="0"/>
                        </a:spcBef>
                        <a:spcAft>
                          <a:spcPts val="0"/>
                        </a:spcAft>
                        <a:buNone/>
                      </a:pPr>
                      <a:r>
                        <a:rPr lang="en" sz="800"/>
                        <a:t>2008</a:t>
                      </a:r>
                      <a:endParaRPr sz="80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dirty="0"/>
                        <a:t>13%</a:t>
                      </a:r>
                      <a:endParaRPr sz="800" dirty="0"/>
                    </a:p>
                  </a:txBody>
                  <a:tcPr marL="63500" marR="63500" marT="63500" marB="63500">
                    <a:solidFill>
                      <a:srgbClr val="FFF2CC"/>
                    </a:solidFill>
                  </a:tcPr>
                </a:tc>
                <a:extLst>
                  <a:ext uri="{0D108BD9-81ED-4DB2-BD59-A6C34878D82A}">
                    <a16:rowId xmlns:a16="http://schemas.microsoft.com/office/drawing/2014/main" val="10002"/>
                  </a:ext>
                </a:extLst>
              </a:tr>
              <a:tr h="259347">
                <a:tc>
                  <a:txBody>
                    <a:bodyPr/>
                    <a:lstStyle/>
                    <a:p>
                      <a:pPr marL="0" lvl="0" indent="0" algn="l" rtl="0">
                        <a:lnSpc>
                          <a:spcPct val="115000"/>
                        </a:lnSpc>
                        <a:spcBef>
                          <a:spcPts val="0"/>
                        </a:spcBef>
                        <a:spcAft>
                          <a:spcPts val="0"/>
                        </a:spcAft>
                        <a:buNone/>
                      </a:pPr>
                      <a:r>
                        <a:rPr lang="en" sz="800" dirty="0"/>
                        <a:t>2009</a:t>
                      </a:r>
                      <a:endParaRPr sz="800" dirty="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a:t>13%</a:t>
                      </a:r>
                      <a:endParaRPr sz="800"/>
                    </a:p>
                  </a:txBody>
                  <a:tcPr marL="63500" marR="63500" marT="63500" marB="63500">
                    <a:solidFill>
                      <a:srgbClr val="FFF2CC"/>
                    </a:solidFill>
                  </a:tcPr>
                </a:tc>
                <a:extLst>
                  <a:ext uri="{0D108BD9-81ED-4DB2-BD59-A6C34878D82A}">
                    <a16:rowId xmlns:a16="http://schemas.microsoft.com/office/drawing/2014/main" val="10003"/>
                  </a:ext>
                </a:extLst>
              </a:tr>
              <a:tr h="259347">
                <a:tc>
                  <a:txBody>
                    <a:bodyPr/>
                    <a:lstStyle/>
                    <a:p>
                      <a:pPr marL="0" lvl="0" indent="0" algn="l" rtl="0">
                        <a:lnSpc>
                          <a:spcPct val="115000"/>
                        </a:lnSpc>
                        <a:spcBef>
                          <a:spcPts val="0"/>
                        </a:spcBef>
                        <a:spcAft>
                          <a:spcPts val="0"/>
                        </a:spcAft>
                        <a:buNone/>
                      </a:pPr>
                      <a:r>
                        <a:rPr lang="en" sz="800"/>
                        <a:t>2010</a:t>
                      </a:r>
                      <a:endParaRPr sz="80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a:t>14%</a:t>
                      </a:r>
                      <a:endParaRPr sz="800"/>
                    </a:p>
                  </a:txBody>
                  <a:tcPr marL="63500" marR="63500" marT="63500" marB="63500">
                    <a:solidFill>
                      <a:srgbClr val="FFF2CC"/>
                    </a:solidFill>
                  </a:tcPr>
                </a:tc>
                <a:extLst>
                  <a:ext uri="{0D108BD9-81ED-4DB2-BD59-A6C34878D82A}">
                    <a16:rowId xmlns:a16="http://schemas.microsoft.com/office/drawing/2014/main" val="10004"/>
                  </a:ext>
                </a:extLst>
              </a:tr>
              <a:tr h="259347">
                <a:tc>
                  <a:txBody>
                    <a:bodyPr/>
                    <a:lstStyle/>
                    <a:p>
                      <a:pPr marL="0" lvl="0" indent="0" algn="l" rtl="0">
                        <a:lnSpc>
                          <a:spcPct val="115000"/>
                        </a:lnSpc>
                        <a:spcBef>
                          <a:spcPts val="0"/>
                        </a:spcBef>
                        <a:spcAft>
                          <a:spcPts val="0"/>
                        </a:spcAft>
                        <a:buNone/>
                      </a:pPr>
                      <a:r>
                        <a:rPr lang="en" sz="800"/>
                        <a:t>2011</a:t>
                      </a:r>
                      <a:endParaRPr sz="80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a:t>15%</a:t>
                      </a:r>
                      <a:endParaRPr sz="800"/>
                    </a:p>
                  </a:txBody>
                  <a:tcPr marL="63500" marR="63500" marT="63500" marB="63500">
                    <a:solidFill>
                      <a:srgbClr val="FFF2CC"/>
                    </a:solidFill>
                  </a:tcPr>
                </a:tc>
                <a:extLst>
                  <a:ext uri="{0D108BD9-81ED-4DB2-BD59-A6C34878D82A}">
                    <a16:rowId xmlns:a16="http://schemas.microsoft.com/office/drawing/2014/main" val="10005"/>
                  </a:ext>
                </a:extLst>
              </a:tr>
              <a:tr h="259347">
                <a:tc>
                  <a:txBody>
                    <a:bodyPr/>
                    <a:lstStyle/>
                    <a:p>
                      <a:pPr marL="0" lvl="0" indent="0" algn="l" rtl="0">
                        <a:lnSpc>
                          <a:spcPct val="115000"/>
                        </a:lnSpc>
                        <a:spcBef>
                          <a:spcPts val="0"/>
                        </a:spcBef>
                        <a:spcAft>
                          <a:spcPts val="0"/>
                        </a:spcAft>
                        <a:buNone/>
                      </a:pPr>
                      <a:r>
                        <a:rPr lang="en" sz="800"/>
                        <a:t>2012</a:t>
                      </a:r>
                      <a:endParaRPr sz="80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a:t>18%</a:t>
                      </a:r>
                      <a:endParaRPr sz="800"/>
                    </a:p>
                  </a:txBody>
                  <a:tcPr marL="63500" marR="63500" marT="63500" marB="63500">
                    <a:solidFill>
                      <a:srgbClr val="FFF2CC"/>
                    </a:solidFill>
                  </a:tcPr>
                </a:tc>
                <a:extLst>
                  <a:ext uri="{0D108BD9-81ED-4DB2-BD59-A6C34878D82A}">
                    <a16:rowId xmlns:a16="http://schemas.microsoft.com/office/drawing/2014/main" val="10006"/>
                  </a:ext>
                </a:extLst>
              </a:tr>
              <a:tr h="259347">
                <a:tc>
                  <a:txBody>
                    <a:bodyPr/>
                    <a:lstStyle/>
                    <a:p>
                      <a:pPr marL="0" lvl="0" indent="0" algn="l" rtl="0">
                        <a:lnSpc>
                          <a:spcPct val="115000"/>
                        </a:lnSpc>
                        <a:spcBef>
                          <a:spcPts val="0"/>
                        </a:spcBef>
                        <a:spcAft>
                          <a:spcPts val="0"/>
                        </a:spcAft>
                        <a:buNone/>
                      </a:pPr>
                      <a:r>
                        <a:rPr lang="en" sz="800"/>
                        <a:t>2013</a:t>
                      </a:r>
                      <a:endParaRPr sz="80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a:t>23%</a:t>
                      </a:r>
                      <a:endParaRPr sz="800"/>
                    </a:p>
                  </a:txBody>
                  <a:tcPr marL="63500" marR="63500" marT="63500" marB="63500">
                    <a:solidFill>
                      <a:srgbClr val="FFF2CC"/>
                    </a:solidFill>
                  </a:tcPr>
                </a:tc>
                <a:extLst>
                  <a:ext uri="{0D108BD9-81ED-4DB2-BD59-A6C34878D82A}">
                    <a16:rowId xmlns:a16="http://schemas.microsoft.com/office/drawing/2014/main" val="10007"/>
                  </a:ext>
                </a:extLst>
              </a:tr>
              <a:tr h="259347">
                <a:tc>
                  <a:txBody>
                    <a:bodyPr/>
                    <a:lstStyle/>
                    <a:p>
                      <a:pPr marL="0" lvl="0" indent="0" algn="l" rtl="0">
                        <a:lnSpc>
                          <a:spcPct val="115000"/>
                        </a:lnSpc>
                        <a:spcBef>
                          <a:spcPts val="0"/>
                        </a:spcBef>
                        <a:spcAft>
                          <a:spcPts val="0"/>
                        </a:spcAft>
                        <a:buNone/>
                      </a:pPr>
                      <a:r>
                        <a:rPr lang="en" sz="800"/>
                        <a:t>2014</a:t>
                      </a:r>
                      <a:endParaRPr sz="80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a:t>22%</a:t>
                      </a:r>
                      <a:endParaRPr sz="800"/>
                    </a:p>
                  </a:txBody>
                  <a:tcPr marL="63500" marR="63500" marT="63500" marB="63500">
                    <a:solidFill>
                      <a:srgbClr val="FFF2CC"/>
                    </a:solidFill>
                  </a:tcPr>
                </a:tc>
                <a:extLst>
                  <a:ext uri="{0D108BD9-81ED-4DB2-BD59-A6C34878D82A}">
                    <a16:rowId xmlns:a16="http://schemas.microsoft.com/office/drawing/2014/main" val="10008"/>
                  </a:ext>
                </a:extLst>
              </a:tr>
              <a:tr h="259347">
                <a:tc>
                  <a:txBody>
                    <a:bodyPr/>
                    <a:lstStyle/>
                    <a:p>
                      <a:pPr marL="0" lvl="0" indent="0" algn="l" rtl="0">
                        <a:lnSpc>
                          <a:spcPct val="115000"/>
                        </a:lnSpc>
                        <a:spcBef>
                          <a:spcPts val="0"/>
                        </a:spcBef>
                        <a:spcAft>
                          <a:spcPts val="0"/>
                        </a:spcAft>
                        <a:buNone/>
                      </a:pPr>
                      <a:r>
                        <a:rPr lang="en" sz="800"/>
                        <a:t>2015</a:t>
                      </a:r>
                      <a:endParaRPr sz="80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a:t>16%</a:t>
                      </a:r>
                      <a:endParaRPr sz="800"/>
                    </a:p>
                  </a:txBody>
                  <a:tcPr marL="63500" marR="63500" marT="63500" marB="63500">
                    <a:solidFill>
                      <a:srgbClr val="FFF2CC"/>
                    </a:solidFill>
                  </a:tcPr>
                </a:tc>
                <a:extLst>
                  <a:ext uri="{0D108BD9-81ED-4DB2-BD59-A6C34878D82A}">
                    <a16:rowId xmlns:a16="http://schemas.microsoft.com/office/drawing/2014/main" val="10009"/>
                  </a:ext>
                </a:extLst>
              </a:tr>
              <a:tr h="259347">
                <a:tc>
                  <a:txBody>
                    <a:bodyPr/>
                    <a:lstStyle/>
                    <a:p>
                      <a:pPr marL="0" lvl="0" indent="0" algn="l" rtl="0">
                        <a:lnSpc>
                          <a:spcPct val="115000"/>
                        </a:lnSpc>
                        <a:spcBef>
                          <a:spcPts val="0"/>
                        </a:spcBef>
                        <a:spcAft>
                          <a:spcPts val="0"/>
                        </a:spcAft>
                        <a:buNone/>
                      </a:pPr>
                      <a:r>
                        <a:rPr lang="en" sz="800"/>
                        <a:t>2016</a:t>
                      </a:r>
                      <a:endParaRPr sz="80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a:t>8%</a:t>
                      </a:r>
                      <a:endParaRPr sz="800"/>
                    </a:p>
                  </a:txBody>
                  <a:tcPr marL="63500" marR="63500" marT="63500" marB="63500">
                    <a:solidFill>
                      <a:srgbClr val="FFF2CC"/>
                    </a:solidFill>
                  </a:tcPr>
                </a:tc>
                <a:extLst>
                  <a:ext uri="{0D108BD9-81ED-4DB2-BD59-A6C34878D82A}">
                    <a16:rowId xmlns:a16="http://schemas.microsoft.com/office/drawing/2014/main" val="10010"/>
                  </a:ext>
                </a:extLst>
              </a:tr>
              <a:tr h="259347">
                <a:tc>
                  <a:txBody>
                    <a:bodyPr/>
                    <a:lstStyle/>
                    <a:p>
                      <a:pPr marL="0" lvl="0" indent="0" algn="l" rtl="0">
                        <a:lnSpc>
                          <a:spcPct val="115000"/>
                        </a:lnSpc>
                        <a:spcBef>
                          <a:spcPts val="0"/>
                        </a:spcBef>
                        <a:spcAft>
                          <a:spcPts val="0"/>
                        </a:spcAft>
                        <a:buNone/>
                      </a:pPr>
                      <a:r>
                        <a:rPr lang="en" sz="800" b="1" dirty="0"/>
                        <a:t>Total</a:t>
                      </a:r>
                      <a:endParaRPr sz="800" dirty="0"/>
                    </a:p>
                  </a:txBody>
                  <a:tcPr marL="63500" marR="63500" marT="63500" marB="63500">
                    <a:solidFill>
                      <a:srgbClr val="FFF2CC"/>
                    </a:solidFill>
                  </a:tcPr>
                </a:tc>
                <a:tc>
                  <a:txBody>
                    <a:bodyPr/>
                    <a:lstStyle/>
                    <a:p>
                      <a:pPr marL="0" lvl="0" indent="0" algn="l" rtl="0">
                        <a:lnSpc>
                          <a:spcPct val="115000"/>
                        </a:lnSpc>
                        <a:spcBef>
                          <a:spcPts val="0"/>
                        </a:spcBef>
                        <a:spcAft>
                          <a:spcPts val="0"/>
                        </a:spcAft>
                        <a:buNone/>
                      </a:pPr>
                      <a:r>
                        <a:rPr lang="en" sz="800" b="1" dirty="0"/>
                        <a:t>15%</a:t>
                      </a:r>
                      <a:endParaRPr sz="800" dirty="0"/>
                    </a:p>
                  </a:txBody>
                  <a:tcPr marL="63500" marR="63500" marT="63500" marB="63500">
                    <a:solidFill>
                      <a:srgbClr val="FFF2CC"/>
                    </a:solidFill>
                  </a:tcPr>
                </a:tc>
                <a:extLst>
                  <a:ext uri="{0D108BD9-81ED-4DB2-BD59-A6C34878D82A}">
                    <a16:rowId xmlns:a16="http://schemas.microsoft.com/office/drawing/2014/main" val="10011"/>
                  </a:ext>
                </a:extLst>
              </a:tr>
            </a:tbl>
          </a:graphicData>
        </a:graphic>
      </p:graphicFrame>
      <p:sp>
        <p:nvSpPr>
          <p:cNvPr id="13" name="TextBox 12">
            <a:extLst>
              <a:ext uri="{FF2B5EF4-FFF2-40B4-BE49-F238E27FC236}">
                <a16:creationId xmlns:a16="http://schemas.microsoft.com/office/drawing/2014/main" id="{342259A6-9D50-98F1-76E0-456B44E9D493}"/>
              </a:ext>
            </a:extLst>
          </p:cNvPr>
          <p:cNvSpPr txBox="1"/>
          <p:nvPr/>
        </p:nvSpPr>
        <p:spPr>
          <a:xfrm>
            <a:off x="3088892" y="958555"/>
            <a:ext cx="2785651" cy="307777"/>
          </a:xfrm>
          <a:prstGeom prst="rect">
            <a:avLst/>
          </a:prstGeom>
          <a:noFill/>
        </p:spPr>
        <p:txBody>
          <a:bodyPr wrap="square">
            <a:spAutoFit/>
          </a:bodyPr>
          <a:lstStyle/>
          <a:p>
            <a:pPr marL="0" lvl="0" indent="0" algn="l" rtl="0">
              <a:spcBef>
                <a:spcPts val="0"/>
              </a:spcBef>
              <a:spcAft>
                <a:spcPts val="0"/>
              </a:spcAft>
              <a:buNone/>
            </a:pPr>
            <a:r>
              <a:rPr lang="en-US" sz="1050" dirty="0">
                <a:solidFill>
                  <a:schemeClr val="tx2"/>
                </a:solidFill>
                <a:latin typeface="Oswald"/>
                <a:ea typeface="Oswald"/>
                <a:cs typeface="Oswald"/>
                <a:sym typeface="Oswald"/>
              </a:rPr>
              <a:t>Region Population 745,173,774</a:t>
            </a:r>
            <a:r>
              <a:rPr lang="en-US" sz="1400" dirty="0">
                <a:solidFill>
                  <a:schemeClr val="dk1"/>
                </a:solidFill>
                <a:latin typeface="Oswald"/>
                <a:ea typeface="Oswald"/>
                <a:cs typeface="Oswald"/>
                <a:sym typeface="Oswald"/>
              </a:rPr>
              <a:t> </a:t>
            </a:r>
          </a:p>
        </p:txBody>
      </p:sp>
      <p:sp>
        <p:nvSpPr>
          <p:cNvPr id="15" name="TextBox 14">
            <a:extLst>
              <a:ext uri="{FF2B5EF4-FFF2-40B4-BE49-F238E27FC236}">
                <a16:creationId xmlns:a16="http://schemas.microsoft.com/office/drawing/2014/main" id="{C766E966-5773-BE89-EFBC-72331F3C2D8B}"/>
              </a:ext>
            </a:extLst>
          </p:cNvPr>
          <p:cNvSpPr txBox="1"/>
          <p:nvPr/>
        </p:nvSpPr>
        <p:spPr>
          <a:xfrm>
            <a:off x="4055347" y="1413890"/>
            <a:ext cx="1918464" cy="2121478"/>
          </a:xfrm>
          <a:prstGeom prst="rect">
            <a:avLst/>
          </a:prstGeom>
          <a:noFill/>
        </p:spPr>
        <p:txBody>
          <a:bodyPr wrap="square">
            <a:spAutoFit/>
          </a:bodyPr>
          <a:lstStyle/>
          <a:p>
            <a:pPr marL="0" lvl="0" indent="0" rtl="0">
              <a:lnSpc>
                <a:spcPct val="115000"/>
              </a:lnSpc>
              <a:spcBef>
                <a:spcPts val="0"/>
              </a:spcBef>
              <a:spcAft>
                <a:spcPts val="0"/>
              </a:spcAft>
              <a:buNone/>
            </a:pPr>
            <a:r>
              <a:rPr lang="en-US" sz="1050" b="1" dirty="0">
                <a:solidFill>
                  <a:schemeClr val="dk1"/>
                </a:solidFill>
                <a:latin typeface="Oswald"/>
                <a:ea typeface="Oswald"/>
                <a:cs typeface="Oswald"/>
                <a:sym typeface="Oswald"/>
              </a:rPr>
              <a:t>Gamer Population</a:t>
            </a:r>
          </a:p>
          <a:p>
            <a:pPr marL="0" lvl="0" indent="0" rtl="0">
              <a:lnSpc>
                <a:spcPct val="115000"/>
              </a:lnSpc>
              <a:spcBef>
                <a:spcPts val="0"/>
              </a:spcBef>
              <a:spcAft>
                <a:spcPts val="0"/>
              </a:spcAft>
              <a:buNone/>
            </a:pPr>
            <a:r>
              <a:rPr lang="en-US" sz="1050" dirty="0">
                <a:solidFill>
                  <a:schemeClr val="dk1"/>
                </a:solidFill>
                <a:latin typeface="Oswald"/>
                <a:ea typeface="Oswald"/>
                <a:cs typeface="Oswald"/>
                <a:sym typeface="Oswald"/>
              </a:rPr>
              <a:t>The 53% of Europeans play video games.</a:t>
            </a:r>
          </a:p>
          <a:p>
            <a:pPr marL="0" lvl="0" indent="0" rtl="0">
              <a:lnSpc>
                <a:spcPct val="115000"/>
              </a:lnSpc>
              <a:spcBef>
                <a:spcPts val="0"/>
              </a:spcBef>
              <a:spcAft>
                <a:spcPts val="0"/>
              </a:spcAft>
              <a:buNone/>
            </a:pPr>
            <a:endParaRPr lang="en-US" sz="1050" dirty="0">
              <a:solidFill>
                <a:schemeClr val="dk1"/>
              </a:solidFill>
              <a:latin typeface="Oswald"/>
              <a:ea typeface="Oswald"/>
              <a:cs typeface="Oswald"/>
              <a:sym typeface="Oswald"/>
            </a:endParaRPr>
          </a:p>
          <a:p>
            <a:pPr marL="0" lvl="0" indent="0" rtl="0">
              <a:lnSpc>
                <a:spcPct val="115000"/>
              </a:lnSpc>
              <a:spcBef>
                <a:spcPts val="0"/>
              </a:spcBef>
              <a:spcAft>
                <a:spcPts val="0"/>
              </a:spcAft>
              <a:buNone/>
            </a:pPr>
            <a:r>
              <a:rPr lang="en-US" sz="1050" dirty="0">
                <a:solidFill>
                  <a:schemeClr val="dk1"/>
                </a:solidFill>
                <a:latin typeface="Oswald"/>
                <a:ea typeface="Oswald"/>
                <a:cs typeface="Oswald"/>
                <a:sym typeface="Oswald"/>
              </a:rPr>
              <a:t>The average age of a European video game player is 32 years old.</a:t>
            </a:r>
            <a:endParaRPr lang="en-US" sz="1050" b="1" dirty="0">
              <a:solidFill>
                <a:schemeClr val="dk1"/>
              </a:solidFill>
              <a:latin typeface="Oswald"/>
              <a:ea typeface="Oswald"/>
              <a:cs typeface="Oswald"/>
              <a:sym typeface="Oswald"/>
            </a:endParaRPr>
          </a:p>
          <a:p>
            <a:pPr marL="0" lvl="0" indent="0" rtl="0">
              <a:lnSpc>
                <a:spcPct val="115000"/>
              </a:lnSpc>
              <a:spcBef>
                <a:spcPts val="0"/>
              </a:spcBef>
              <a:spcAft>
                <a:spcPts val="0"/>
              </a:spcAft>
              <a:buNone/>
            </a:pPr>
            <a:endParaRPr lang="en-US" sz="1050" b="1" dirty="0">
              <a:solidFill>
                <a:schemeClr val="dk1"/>
              </a:solidFill>
              <a:latin typeface="Oswald"/>
              <a:ea typeface="Oswald"/>
              <a:cs typeface="Oswald"/>
              <a:sym typeface="Oswald"/>
            </a:endParaRPr>
          </a:p>
          <a:p>
            <a:pPr marL="0" lvl="0" indent="0" rtl="0">
              <a:lnSpc>
                <a:spcPct val="115000"/>
              </a:lnSpc>
              <a:spcBef>
                <a:spcPts val="0"/>
              </a:spcBef>
              <a:spcAft>
                <a:spcPts val="0"/>
              </a:spcAft>
              <a:buNone/>
            </a:pPr>
            <a:r>
              <a:rPr lang="en-US" sz="1050" b="1" dirty="0">
                <a:solidFill>
                  <a:schemeClr val="dk1"/>
                </a:solidFill>
                <a:latin typeface="Oswald"/>
                <a:ea typeface="Oswald"/>
                <a:cs typeface="Oswald"/>
                <a:sym typeface="Oswald"/>
              </a:rPr>
              <a:t>Key Points:</a:t>
            </a:r>
          </a:p>
          <a:p>
            <a:pPr marL="0" lvl="0" indent="0" rtl="0">
              <a:lnSpc>
                <a:spcPct val="115000"/>
              </a:lnSpc>
              <a:spcBef>
                <a:spcPts val="0"/>
              </a:spcBef>
              <a:spcAft>
                <a:spcPts val="0"/>
              </a:spcAft>
              <a:buNone/>
            </a:pPr>
            <a:r>
              <a:rPr lang="en-US" sz="1050" dirty="0">
                <a:solidFill>
                  <a:schemeClr val="dk1"/>
                </a:solidFill>
                <a:latin typeface="Oswald"/>
                <a:ea typeface="Oswald"/>
                <a:cs typeface="Oswald"/>
                <a:sym typeface="Oswald"/>
              </a:rPr>
              <a:t>Approximately 47% of gamers are female, and 53% are male in Europe.</a:t>
            </a:r>
          </a:p>
        </p:txBody>
      </p:sp>
      <p:sp>
        <p:nvSpPr>
          <p:cNvPr id="19" name="TextBox 18">
            <a:extLst>
              <a:ext uri="{FF2B5EF4-FFF2-40B4-BE49-F238E27FC236}">
                <a16:creationId xmlns:a16="http://schemas.microsoft.com/office/drawing/2014/main" id="{DF2F37C4-EEDE-63B4-C5B1-3EAE4D6E736A}"/>
              </a:ext>
            </a:extLst>
          </p:cNvPr>
          <p:cNvSpPr txBox="1"/>
          <p:nvPr/>
        </p:nvSpPr>
        <p:spPr>
          <a:xfrm>
            <a:off x="3938914" y="3535368"/>
            <a:ext cx="1918465" cy="634917"/>
          </a:xfrm>
          <a:prstGeom prst="rect">
            <a:avLst/>
          </a:prstGeom>
          <a:noFill/>
        </p:spPr>
        <p:txBody>
          <a:bodyPr wrap="square">
            <a:spAutoFit/>
          </a:bodyPr>
          <a:lstStyle/>
          <a:p>
            <a:pPr marL="114300" lvl="0" algn="l" rtl="0">
              <a:lnSpc>
                <a:spcPct val="115000"/>
              </a:lnSpc>
              <a:spcBef>
                <a:spcPts val="0"/>
              </a:spcBef>
              <a:spcAft>
                <a:spcPts val="0"/>
              </a:spcAft>
              <a:buClr>
                <a:schemeClr val="dk1"/>
              </a:buClr>
              <a:buSzPts val="1800"/>
            </a:pPr>
            <a:r>
              <a:rPr lang="en-US" sz="1050" dirty="0">
                <a:solidFill>
                  <a:schemeClr val="dk1"/>
                </a:solidFill>
                <a:latin typeface="Oswald"/>
                <a:ea typeface="Oswald"/>
                <a:cs typeface="Oswald"/>
                <a:sym typeface="Oswald"/>
              </a:rPr>
              <a:t>Europe has experienced a rise in sales participation, particularly from 2011 to 2013.</a:t>
            </a:r>
          </a:p>
        </p:txBody>
      </p:sp>
      <p:sp>
        <p:nvSpPr>
          <p:cNvPr id="21" name="TextBox 20">
            <a:extLst>
              <a:ext uri="{FF2B5EF4-FFF2-40B4-BE49-F238E27FC236}">
                <a16:creationId xmlns:a16="http://schemas.microsoft.com/office/drawing/2014/main" id="{66288415-60B2-00B3-9BB1-BDD090717927}"/>
              </a:ext>
            </a:extLst>
          </p:cNvPr>
          <p:cNvSpPr txBox="1"/>
          <p:nvPr/>
        </p:nvSpPr>
        <p:spPr>
          <a:xfrm>
            <a:off x="290512" y="4247952"/>
            <a:ext cx="2742789" cy="577081"/>
          </a:xfrm>
          <a:prstGeom prst="rect">
            <a:avLst/>
          </a:prstGeom>
          <a:noFill/>
        </p:spPr>
        <p:txBody>
          <a:bodyPr wrap="square">
            <a:spAutoFit/>
          </a:bodyPr>
          <a:lstStyle/>
          <a:p>
            <a:r>
              <a:rPr lang="en-US" sz="1050" dirty="0">
                <a:solidFill>
                  <a:schemeClr val="dk1"/>
                </a:solidFill>
                <a:latin typeface="Oswald"/>
                <a:ea typeface="Oswald"/>
                <a:cs typeface="Oswald"/>
                <a:sym typeface="Oswald"/>
              </a:rPr>
              <a:t>Sales dropped from 28% of global participation in 2013 to just 7% in 2016. This decline indicates market saturation and a need for revitalization.</a:t>
            </a:r>
            <a:endParaRPr lang="en-US" sz="1050" dirty="0"/>
          </a:p>
        </p:txBody>
      </p:sp>
      <p:sp>
        <p:nvSpPr>
          <p:cNvPr id="23" name="TextBox 22">
            <a:extLst>
              <a:ext uri="{FF2B5EF4-FFF2-40B4-BE49-F238E27FC236}">
                <a16:creationId xmlns:a16="http://schemas.microsoft.com/office/drawing/2014/main" id="{A869E1F1-8033-0398-05C6-FCF8E093C1A6}"/>
              </a:ext>
            </a:extLst>
          </p:cNvPr>
          <p:cNvSpPr txBox="1"/>
          <p:nvPr/>
        </p:nvSpPr>
        <p:spPr>
          <a:xfrm>
            <a:off x="2978201" y="4266707"/>
            <a:ext cx="2532419" cy="449097"/>
          </a:xfrm>
          <a:prstGeom prst="rect">
            <a:avLst/>
          </a:prstGeom>
          <a:noFill/>
        </p:spPr>
        <p:txBody>
          <a:bodyPr wrap="square">
            <a:spAutoFit/>
          </a:bodyPr>
          <a:lstStyle/>
          <a:p>
            <a:pPr marL="114300" lvl="0" algn="l" rtl="0">
              <a:lnSpc>
                <a:spcPct val="115000"/>
              </a:lnSpc>
              <a:spcBef>
                <a:spcPts val="0"/>
              </a:spcBef>
              <a:spcAft>
                <a:spcPts val="0"/>
              </a:spcAft>
              <a:buClr>
                <a:schemeClr val="dk1"/>
              </a:buClr>
              <a:buSzPts val="1800"/>
            </a:pPr>
            <a:r>
              <a:rPr lang="en-US" sz="1050" dirty="0">
                <a:solidFill>
                  <a:schemeClr val="dk1"/>
                </a:solidFill>
                <a:latin typeface="Oswald"/>
                <a:ea typeface="Oswald"/>
                <a:cs typeface="Oswald"/>
                <a:sym typeface="Oswald"/>
              </a:rPr>
              <a:t>Sales share increased from 15% to 23%, surpassing North America in 2016 with 8%.</a:t>
            </a:r>
          </a:p>
        </p:txBody>
      </p:sp>
      <p:sp>
        <p:nvSpPr>
          <p:cNvPr id="25" name="TextBox 24">
            <a:extLst>
              <a:ext uri="{FF2B5EF4-FFF2-40B4-BE49-F238E27FC236}">
                <a16:creationId xmlns:a16="http://schemas.microsoft.com/office/drawing/2014/main" id="{852FBF8A-5152-358B-30E2-D6AFB64305B8}"/>
              </a:ext>
            </a:extLst>
          </p:cNvPr>
          <p:cNvSpPr txBox="1"/>
          <p:nvPr/>
        </p:nvSpPr>
        <p:spPr>
          <a:xfrm>
            <a:off x="6354657" y="360462"/>
            <a:ext cx="2534551" cy="369332"/>
          </a:xfrm>
          <a:prstGeom prst="rect">
            <a:avLst/>
          </a:prstGeom>
          <a:noFill/>
        </p:spPr>
        <p:txBody>
          <a:bodyPr wrap="square">
            <a:spAutoFit/>
          </a:bodyPr>
          <a:lstStyle/>
          <a:p>
            <a:pPr algn="ctr"/>
            <a:r>
              <a:rPr lang="en" sz="1800" dirty="0">
                <a:solidFill>
                  <a:schemeClr val="accent1"/>
                </a:solidFill>
                <a:latin typeface="Oswald" panose="00000500000000000000" pitchFamily="2" charset="0"/>
              </a:rPr>
              <a:t>Japanese Market</a:t>
            </a:r>
            <a:endParaRPr lang="en-US" sz="1800" dirty="0">
              <a:solidFill>
                <a:schemeClr val="accent1"/>
              </a:solidFill>
              <a:latin typeface="Oswald" panose="00000500000000000000" pitchFamily="2" charset="0"/>
            </a:endParaRPr>
          </a:p>
        </p:txBody>
      </p:sp>
      <p:sp>
        <p:nvSpPr>
          <p:cNvPr id="27" name="TextBox 26">
            <a:extLst>
              <a:ext uri="{FF2B5EF4-FFF2-40B4-BE49-F238E27FC236}">
                <a16:creationId xmlns:a16="http://schemas.microsoft.com/office/drawing/2014/main" id="{B0F63B53-DD88-589C-6891-C4D41C34B85E}"/>
              </a:ext>
            </a:extLst>
          </p:cNvPr>
          <p:cNvSpPr txBox="1"/>
          <p:nvPr/>
        </p:nvSpPr>
        <p:spPr>
          <a:xfrm>
            <a:off x="7129722" y="1252866"/>
            <a:ext cx="1664874" cy="2946961"/>
          </a:xfrm>
          <a:prstGeom prst="rect">
            <a:avLst/>
          </a:prstGeom>
          <a:noFill/>
        </p:spPr>
        <p:txBody>
          <a:bodyPr wrap="square">
            <a:spAutoFit/>
          </a:bodyPr>
          <a:lstStyle/>
          <a:p>
            <a:pPr marL="0" lvl="0" indent="0" algn="l" rtl="0">
              <a:spcBef>
                <a:spcPts val="0"/>
              </a:spcBef>
              <a:spcAft>
                <a:spcPts val="0"/>
              </a:spcAft>
              <a:buNone/>
            </a:pPr>
            <a:r>
              <a:rPr lang="en-US" sz="1050" b="1" dirty="0">
                <a:solidFill>
                  <a:schemeClr val="dk1"/>
                </a:solidFill>
                <a:latin typeface="Oswald"/>
                <a:ea typeface="Oswald"/>
                <a:cs typeface="Oswald"/>
                <a:sym typeface="Oswald"/>
              </a:rPr>
              <a:t>Gamer Population:</a:t>
            </a:r>
          </a:p>
          <a:p>
            <a:pPr marL="0" lvl="0" indent="0" algn="l" rtl="0">
              <a:spcBef>
                <a:spcPts val="0"/>
              </a:spcBef>
              <a:spcAft>
                <a:spcPts val="0"/>
              </a:spcAft>
              <a:buNone/>
            </a:pPr>
            <a:r>
              <a:rPr lang="en-US" sz="1050" dirty="0">
                <a:solidFill>
                  <a:schemeClr val="dk1"/>
                </a:solidFill>
                <a:latin typeface="Oswald"/>
                <a:ea typeface="Oswald"/>
                <a:cs typeface="Oswald"/>
                <a:sym typeface="Oswald"/>
              </a:rPr>
              <a:t>58% of Japanese people played video games in 2015; the </a:t>
            </a:r>
          </a:p>
          <a:p>
            <a:pPr marL="0" lvl="0" indent="0" algn="l" rtl="0">
              <a:spcBef>
                <a:spcPts val="0"/>
              </a:spcBef>
              <a:spcAft>
                <a:spcPts val="0"/>
              </a:spcAft>
              <a:buNone/>
            </a:pPr>
            <a:r>
              <a:rPr lang="en-US" sz="1050" dirty="0">
                <a:solidFill>
                  <a:schemeClr val="dk1"/>
                </a:solidFill>
                <a:latin typeface="Oswald"/>
                <a:ea typeface="Oswald"/>
                <a:cs typeface="Oswald"/>
                <a:sym typeface="Oswald"/>
              </a:rPr>
              <a:t>The average gamer age is 36 years  </a:t>
            </a:r>
          </a:p>
          <a:p>
            <a:pPr marL="0" lvl="0" indent="0" algn="l" rtl="0">
              <a:spcBef>
                <a:spcPts val="0"/>
              </a:spcBef>
              <a:spcAft>
                <a:spcPts val="0"/>
              </a:spcAft>
              <a:buNone/>
            </a:pPr>
            <a:r>
              <a:rPr lang="en-US" sz="1050" dirty="0">
                <a:solidFill>
                  <a:schemeClr val="dk1"/>
                </a:solidFill>
                <a:latin typeface="Oswald"/>
                <a:ea typeface="Oswald"/>
                <a:cs typeface="Oswald"/>
                <a:sym typeface="Oswald"/>
              </a:rPr>
              <a:t>The largest segment of gamers in 2015 were mobile game users.</a:t>
            </a:r>
          </a:p>
          <a:p>
            <a:pPr marL="0" marR="63500" lvl="0" indent="0" algn="l" rtl="0">
              <a:spcBef>
                <a:spcPts val="2100"/>
              </a:spcBef>
              <a:spcAft>
                <a:spcPts val="0"/>
              </a:spcAft>
              <a:buNone/>
            </a:pPr>
            <a:r>
              <a:rPr lang="en-US" sz="1050" b="1" dirty="0">
                <a:solidFill>
                  <a:schemeClr val="dk1"/>
                </a:solidFill>
                <a:latin typeface="Oswald"/>
                <a:ea typeface="Oswald"/>
                <a:cs typeface="Oswald"/>
                <a:sym typeface="Oswald"/>
              </a:rPr>
              <a:t>Key Points:                     </a:t>
            </a:r>
            <a:r>
              <a:rPr lang="en-US" sz="1050" dirty="0">
                <a:solidFill>
                  <a:schemeClr val="dk1"/>
                </a:solidFill>
                <a:latin typeface="Oswald"/>
                <a:ea typeface="Oswald"/>
                <a:cs typeface="Oswald"/>
                <a:sym typeface="Oswald"/>
              </a:rPr>
              <a:t>More than half (55%) of mobile-first gamers in Japan are female, and they prefer Puzzle games, while Male gamers prefer Role-Play games (RPG).</a:t>
            </a:r>
          </a:p>
        </p:txBody>
      </p:sp>
      <p:graphicFrame>
        <p:nvGraphicFramePr>
          <p:cNvPr id="130" name="Google Shape;130;p22"/>
          <p:cNvGraphicFramePr/>
          <p:nvPr>
            <p:extLst>
              <p:ext uri="{D42A27DB-BD31-4B8C-83A1-F6EECF244321}">
                <p14:modId xmlns:p14="http://schemas.microsoft.com/office/powerpoint/2010/main" val="2299733285"/>
              </p:ext>
            </p:extLst>
          </p:nvPr>
        </p:nvGraphicFramePr>
        <p:xfrm>
          <a:off x="6161054" y="1252866"/>
          <a:ext cx="914317" cy="2852817"/>
        </p:xfrm>
        <a:graphic>
          <a:graphicData uri="http://schemas.openxmlformats.org/drawingml/2006/table">
            <a:tbl>
              <a:tblPr>
                <a:noFill/>
                <a:tableStyleId>{8D797663-909C-4BE7-B219-4228B25E947C}</a:tableStyleId>
              </a:tblPr>
              <a:tblGrid>
                <a:gridCol w="460575">
                  <a:extLst>
                    <a:ext uri="{9D8B030D-6E8A-4147-A177-3AD203B41FA5}">
                      <a16:colId xmlns:a16="http://schemas.microsoft.com/office/drawing/2014/main" val="20000"/>
                    </a:ext>
                  </a:extLst>
                </a:gridCol>
                <a:gridCol w="453742">
                  <a:extLst>
                    <a:ext uri="{9D8B030D-6E8A-4147-A177-3AD203B41FA5}">
                      <a16:colId xmlns:a16="http://schemas.microsoft.com/office/drawing/2014/main" val="20001"/>
                    </a:ext>
                  </a:extLst>
                </a:gridCol>
              </a:tblGrid>
              <a:tr h="259347">
                <a:tc>
                  <a:txBody>
                    <a:bodyPr/>
                    <a:lstStyle/>
                    <a:p>
                      <a:pPr marL="0" lvl="0" indent="0" algn="l" rtl="0">
                        <a:lnSpc>
                          <a:spcPct val="115000"/>
                        </a:lnSpc>
                        <a:spcBef>
                          <a:spcPts val="0"/>
                        </a:spcBef>
                        <a:spcAft>
                          <a:spcPts val="0"/>
                        </a:spcAft>
                        <a:buNone/>
                      </a:pPr>
                      <a:r>
                        <a:rPr lang="en" sz="800" b="1" dirty="0"/>
                        <a:t>Year</a:t>
                      </a:r>
                      <a:endParaRPr sz="800" b="1" dirty="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b="1" dirty="0"/>
                        <a:t>JP </a:t>
                      </a:r>
                      <a:endParaRPr sz="800" b="1" dirty="0"/>
                    </a:p>
                  </a:txBody>
                  <a:tcPr marL="63500" marR="63500" marT="63500" marB="63500">
                    <a:solidFill>
                      <a:srgbClr val="EFEFEF"/>
                    </a:solidFill>
                  </a:tcPr>
                </a:tc>
                <a:extLst>
                  <a:ext uri="{0D108BD9-81ED-4DB2-BD59-A6C34878D82A}">
                    <a16:rowId xmlns:a16="http://schemas.microsoft.com/office/drawing/2014/main" val="10000"/>
                  </a:ext>
                </a:extLst>
              </a:tr>
              <a:tr h="259347">
                <a:tc>
                  <a:txBody>
                    <a:bodyPr/>
                    <a:lstStyle/>
                    <a:p>
                      <a:pPr marL="0" lvl="0" indent="0" algn="l" rtl="0">
                        <a:lnSpc>
                          <a:spcPct val="115000"/>
                        </a:lnSpc>
                        <a:spcBef>
                          <a:spcPts val="0"/>
                        </a:spcBef>
                        <a:spcAft>
                          <a:spcPts val="0"/>
                        </a:spcAft>
                        <a:buNone/>
                      </a:pPr>
                      <a:r>
                        <a:rPr lang="en" sz="800"/>
                        <a:t>2008</a:t>
                      </a:r>
                      <a:endParaRPr sz="80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dirty="0"/>
                        <a:t>4%</a:t>
                      </a:r>
                      <a:endParaRPr sz="800" dirty="0"/>
                    </a:p>
                  </a:txBody>
                  <a:tcPr marL="63500" marR="63500" marT="63500" marB="63500">
                    <a:solidFill>
                      <a:srgbClr val="EFEFEF"/>
                    </a:solidFill>
                  </a:tcPr>
                </a:tc>
                <a:extLst>
                  <a:ext uri="{0D108BD9-81ED-4DB2-BD59-A6C34878D82A}">
                    <a16:rowId xmlns:a16="http://schemas.microsoft.com/office/drawing/2014/main" val="10002"/>
                  </a:ext>
                </a:extLst>
              </a:tr>
              <a:tr h="259347">
                <a:tc>
                  <a:txBody>
                    <a:bodyPr/>
                    <a:lstStyle/>
                    <a:p>
                      <a:pPr marL="0" lvl="0" indent="0" algn="l" rtl="0">
                        <a:lnSpc>
                          <a:spcPct val="115000"/>
                        </a:lnSpc>
                        <a:spcBef>
                          <a:spcPts val="0"/>
                        </a:spcBef>
                        <a:spcAft>
                          <a:spcPts val="0"/>
                        </a:spcAft>
                        <a:buNone/>
                      </a:pPr>
                      <a:r>
                        <a:rPr lang="en" sz="800"/>
                        <a:t>2009</a:t>
                      </a:r>
                      <a:endParaRPr sz="80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dirty="0"/>
                        <a:t>4%</a:t>
                      </a:r>
                      <a:endParaRPr sz="800" dirty="0"/>
                    </a:p>
                  </a:txBody>
                  <a:tcPr marL="63500" marR="63500" marT="63500" marB="63500">
                    <a:solidFill>
                      <a:srgbClr val="EFEFEF"/>
                    </a:solidFill>
                  </a:tcPr>
                </a:tc>
                <a:extLst>
                  <a:ext uri="{0D108BD9-81ED-4DB2-BD59-A6C34878D82A}">
                    <a16:rowId xmlns:a16="http://schemas.microsoft.com/office/drawing/2014/main" val="10003"/>
                  </a:ext>
                </a:extLst>
              </a:tr>
              <a:tr h="259347">
                <a:tc>
                  <a:txBody>
                    <a:bodyPr/>
                    <a:lstStyle/>
                    <a:p>
                      <a:pPr marL="0" lvl="0" indent="0" algn="l" rtl="0">
                        <a:lnSpc>
                          <a:spcPct val="115000"/>
                        </a:lnSpc>
                        <a:spcBef>
                          <a:spcPts val="0"/>
                        </a:spcBef>
                        <a:spcAft>
                          <a:spcPts val="0"/>
                        </a:spcAft>
                        <a:buNone/>
                      </a:pPr>
                      <a:r>
                        <a:rPr lang="en" sz="800"/>
                        <a:t>2010</a:t>
                      </a:r>
                      <a:endParaRPr sz="80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dirty="0"/>
                        <a:t>5%</a:t>
                      </a:r>
                      <a:endParaRPr sz="800" dirty="0"/>
                    </a:p>
                  </a:txBody>
                  <a:tcPr marL="63500" marR="63500" marT="63500" marB="63500">
                    <a:solidFill>
                      <a:srgbClr val="EFEFEF"/>
                    </a:solidFill>
                  </a:tcPr>
                </a:tc>
                <a:extLst>
                  <a:ext uri="{0D108BD9-81ED-4DB2-BD59-A6C34878D82A}">
                    <a16:rowId xmlns:a16="http://schemas.microsoft.com/office/drawing/2014/main" val="10004"/>
                  </a:ext>
                </a:extLst>
              </a:tr>
              <a:tr h="259347">
                <a:tc>
                  <a:txBody>
                    <a:bodyPr/>
                    <a:lstStyle/>
                    <a:p>
                      <a:pPr marL="0" lvl="0" indent="0" algn="l" rtl="0">
                        <a:lnSpc>
                          <a:spcPct val="115000"/>
                        </a:lnSpc>
                        <a:spcBef>
                          <a:spcPts val="0"/>
                        </a:spcBef>
                        <a:spcAft>
                          <a:spcPts val="0"/>
                        </a:spcAft>
                        <a:buNone/>
                      </a:pPr>
                      <a:r>
                        <a:rPr lang="en" sz="800"/>
                        <a:t>2011</a:t>
                      </a:r>
                      <a:endParaRPr sz="80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a:t>5%</a:t>
                      </a:r>
                      <a:endParaRPr sz="800"/>
                    </a:p>
                  </a:txBody>
                  <a:tcPr marL="63500" marR="63500" marT="63500" marB="63500">
                    <a:solidFill>
                      <a:srgbClr val="EFEFEF"/>
                    </a:solidFill>
                  </a:tcPr>
                </a:tc>
                <a:extLst>
                  <a:ext uri="{0D108BD9-81ED-4DB2-BD59-A6C34878D82A}">
                    <a16:rowId xmlns:a16="http://schemas.microsoft.com/office/drawing/2014/main" val="10005"/>
                  </a:ext>
                </a:extLst>
              </a:tr>
              <a:tr h="259347">
                <a:tc>
                  <a:txBody>
                    <a:bodyPr/>
                    <a:lstStyle/>
                    <a:p>
                      <a:pPr marL="0" lvl="0" indent="0" algn="l" rtl="0">
                        <a:lnSpc>
                          <a:spcPct val="115000"/>
                        </a:lnSpc>
                        <a:spcBef>
                          <a:spcPts val="0"/>
                        </a:spcBef>
                        <a:spcAft>
                          <a:spcPts val="0"/>
                        </a:spcAft>
                        <a:buNone/>
                      </a:pPr>
                      <a:r>
                        <a:rPr lang="en" sz="800"/>
                        <a:t>2012</a:t>
                      </a:r>
                      <a:endParaRPr sz="80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a:t>8%</a:t>
                      </a:r>
                      <a:endParaRPr sz="800"/>
                    </a:p>
                  </a:txBody>
                  <a:tcPr marL="63500" marR="63500" marT="63500" marB="63500">
                    <a:solidFill>
                      <a:srgbClr val="EFEFEF"/>
                    </a:solidFill>
                  </a:tcPr>
                </a:tc>
                <a:extLst>
                  <a:ext uri="{0D108BD9-81ED-4DB2-BD59-A6C34878D82A}">
                    <a16:rowId xmlns:a16="http://schemas.microsoft.com/office/drawing/2014/main" val="10006"/>
                  </a:ext>
                </a:extLst>
              </a:tr>
              <a:tr h="259347">
                <a:tc>
                  <a:txBody>
                    <a:bodyPr/>
                    <a:lstStyle/>
                    <a:p>
                      <a:pPr marL="0" lvl="0" indent="0" algn="l" rtl="0">
                        <a:lnSpc>
                          <a:spcPct val="115000"/>
                        </a:lnSpc>
                        <a:spcBef>
                          <a:spcPts val="0"/>
                        </a:spcBef>
                        <a:spcAft>
                          <a:spcPts val="0"/>
                        </a:spcAft>
                        <a:buNone/>
                      </a:pPr>
                      <a:r>
                        <a:rPr lang="en" sz="800"/>
                        <a:t>2013</a:t>
                      </a:r>
                      <a:endParaRPr sz="80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a:t>9%</a:t>
                      </a:r>
                      <a:endParaRPr sz="800"/>
                    </a:p>
                  </a:txBody>
                  <a:tcPr marL="63500" marR="63500" marT="63500" marB="63500">
                    <a:solidFill>
                      <a:srgbClr val="EFEFEF"/>
                    </a:solidFill>
                  </a:tcPr>
                </a:tc>
                <a:extLst>
                  <a:ext uri="{0D108BD9-81ED-4DB2-BD59-A6C34878D82A}">
                    <a16:rowId xmlns:a16="http://schemas.microsoft.com/office/drawing/2014/main" val="10007"/>
                  </a:ext>
                </a:extLst>
              </a:tr>
              <a:tr h="259347">
                <a:tc>
                  <a:txBody>
                    <a:bodyPr/>
                    <a:lstStyle/>
                    <a:p>
                      <a:pPr marL="0" lvl="0" indent="0" algn="l" rtl="0">
                        <a:lnSpc>
                          <a:spcPct val="115000"/>
                        </a:lnSpc>
                        <a:spcBef>
                          <a:spcPts val="0"/>
                        </a:spcBef>
                        <a:spcAft>
                          <a:spcPts val="0"/>
                        </a:spcAft>
                        <a:buNone/>
                      </a:pPr>
                      <a:r>
                        <a:rPr lang="en" sz="800"/>
                        <a:t>2014</a:t>
                      </a:r>
                      <a:endParaRPr sz="80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a:t>7%</a:t>
                      </a:r>
                      <a:endParaRPr sz="800"/>
                    </a:p>
                  </a:txBody>
                  <a:tcPr marL="63500" marR="63500" marT="63500" marB="63500">
                    <a:solidFill>
                      <a:srgbClr val="EFEFEF"/>
                    </a:solidFill>
                  </a:tcPr>
                </a:tc>
                <a:extLst>
                  <a:ext uri="{0D108BD9-81ED-4DB2-BD59-A6C34878D82A}">
                    <a16:rowId xmlns:a16="http://schemas.microsoft.com/office/drawing/2014/main" val="10008"/>
                  </a:ext>
                </a:extLst>
              </a:tr>
              <a:tr h="259347">
                <a:tc>
                  <a:txBody>
                    <a:bodyPr/>
                    <a:lstStyle/>
                    <a:p>
                      <a:pPr marL="0" lvl="0" indent="0" algn="l" rtl="0">
                        <a:lnSpc>
                          <a:spcPct val="115000"/>
                        </a:lnSpc>
                        <a:spcBef>
                          <a:spcPts val="0"/>
                        </a:spcBef>
                        <a:spcAft>
                          <a:spcPts val="0"/>
                        </a:spcAft>
                        <a:buNone/>
                      </a:pPr>
                      <a:r>
                        <a:rPr lang="en" sz="800"/>
                        <a:t>2015</a:t>
                      </a:r>
                      <a:endParaRPr sz="80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a:t>5%</a:t>
                      </a:r>
                      <a:endParaRPr sz="800"/>
                    </a:p>
                  </a:txBody>
                  <a:tcPr marL="63500" marR="63500" marT="63500" marB="63500">
                    <a:solidFill>
                      <a:srgbClr val="EFEFEF"/>
                    </a:solidFill>
                  </a:tcPr>
                </a:tc>
                <a:extLst>
                  <a:ext uri="{0D108BD9-81ED-4DB2-BD59-A6C34878D82A}">
                    <a16:rowId xmlns:a16="http://schemas.microsoft.com/office/drawing/2014/main" val="10009"/>
                  </a:ext>
                </a:extLst>
              </a:tr>
              <a:tr h="259347">
                <a:tc>
                  <a:txBody>
                    <a:bodyPr/>
                    <a:lstStyle/>
                    <a:p>
                      <a:pPr marL="0" lvl="0" indent="0" algn="l" rtl="0">
                        <a:lnSpc>
                          <a:spcPct val="115000"/>
                        </a:lnSpc>
                        <a:spcBef>
                          <a:spcPts val="0"/>
                        </a:spcBef>
                        <a:spcAft>
                          <a:spcPts val="0"/>
                        </a:spcAft>
                        <a:buNone/>
                      </a:pPr>
                      <a:r>
                        <a:rPr lang="en" sz="800"/>
                        <a:t>2016</a:t>
                      </a:r>
                      <a:endParaRPr sz="80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a:t>4%</a:t>
                      </a:r>
                      <a:endParaRPr sz="800"/>
                    </a:p>
                  </a:txBody>
                  <a:tcPr marL="63500" marR="63500" marT="63500" marB="63500">
                    <a:solidFill>
                      <a:srgbClr val="EFEFEF"/>
                    </a:solidFill>
                  </a:tcPr>
                </a:tc>
                <a:extLst>
                  <a:ext uri="{0D108BD9-81ED-4DB2-BD59-A6C34878D82A}">
                    <a16:rowId xmlns:a16="http://schemas.microsoft.com/office/drawing/2014/main" val="10010"/>
                  </a:ext>
                </a:extLst>
              </a:tr>
              <a:tr h="259347">
                <a:tc>
                  <a:txBody>
                    <a:bodyPr/>
                    <a:lstStyle/>
                    <a:p>
                      <a:pPr marL="0" lvl="0" indent="0" algn="l" rtl="0">
                        <a:lnSpc>
                          <a:spcPct val="115000"/>
                        </a:lnSpc>
                        <a:spcBef>
                          <a:spcPts val="0"/>
                        </a:spcBef>
                        <a:spcAft>
                          <a:spcPts val="0"/>
                        </a:spcAft>
                        <a:buNone/>
                      </a:pPr>
                      <a:r>
                        <a:rPr lang="en" sz="800" b="1" dirty="0"/>
                        <a:t>Total</a:t>
                      </a:r>
                      <a:endParaRPr sz="800" dirty="0"/>
                    </a:p>
                  </a:txBody>
                  <a:tcPr marL="63500" marR="63500" marT="63500" marB="63500">
                    <a:solidFill>
                      <a:srgbClr val="EFEFEF"/>
                    </a:solidFill>
                  </a:tcPr>
                </a:tc>
                <a:tc>
                  <a:txBody>
                    <a:bodyPr/>
                    <a:lstStyle/>
                    <a:p>
                      <a:pPr marL="0" lvl="0" indent="0" algn="l" rtl="0">
                        <a:lnSpc>
                          <a:spcPct val="115000"/>
                        </a:lnSpc>
                        <a:spcBef>
                          <a:spcPts val="0"/>
                        </a:spcBef>
                        <a:spcAft>
                          <a:spcPts val="0"/>
                        </a:spcAft>
                        <a:buNone/>
                      </a:pPr>
                      <a:r>
                        <a:rPr lang="en" sz="800" b="1" dirty="0"/>
                        <a:t>8%</a:t>
                      </a:r>
                      <a:endParaRPr sz="800" dirty="0"/>
                    </a:p>
                  </a:txBody>
                  <a:tcPr marL="63500" marR="63500" marT="63500" marB="63500">
                    <a:solidFill>
                      <a:srgbClr val="EFEFEF"/>
                    </a:solidFill>
                  </a:tcPr>
                </a:tc>
                <a:extLst>
                  <a:ext uri="{0D108BD9-81ED-4DB2-BD59-A6C34878D82A}">
                    <a16:rowId xmlns:a16="http://schemas.microsoft.com/office/drawing/2014/main" val="10011"/>
                  </a:ext>
                </a:extLst>
              </a:tr>
            </a:tbl>
          </a:graphicData>
        </a:graphic>
      </p:graphicFrame>
      <p:sp>
        <p:nvSpPr>
          <p:cNvPr id="28" name="TextBox 27">
            <a:extLst>
              <a:ext uri="{FF2B5EF4-FFF2-40B4-BE49-F238E27FC236}">
                <a16:creationId xmlns:a16="http://schemas.microsoft.com/office/drawing/2014/main" id="{7FC9105E-C6A5-BC44-EDEB-6DEF8317D439}"/>
              </a:ext>
            </a:extLst>
          </p:cNvPr>
          <p:cNvSpPr txBox="1"/>
          <p:nvPr/>
        </p:nvSpPr>
        <p:spPr>
          <a:xfrm>
            <a:off x="6153152" y="959847"/>
            <a:ext cx="2785651" cy="307777"/>
          </a:xfrm>
          <a:prstGeom prst="rect">
            <a:avLst/>
          </a:prstGeom>
          <a:noFill/>
        </p:spPr>
        <p:txBody>
          <a:bodyPr wrap="square">
            <a:spAutoFit/>
          </a:bodyPr>
          <a:lstStyle/>
          <a:p>
            <a:pPr marL="0" lvl="0" indent="0" algn="l" rtl="0">
              <a:spcBef>
                <a:spcPts val="0"/>
              </a:spcBef>
              <a:spcAft>
                <a:spcPts val="0"/>
              </a:spcAft>
              <a:buNone/>
            </a:pPr>
            <a:r>
              <a:rPr lang="en-US" sz="1050" dirty="0">
                <a:solidFill>
                  <a:schemeClr val="tx2"/>
                </a:solidFill>
                <a:latin typeface="Oswald"/>
                <a:ea typeface="Oswald"/>
                <a:cs typeface="Oswald"/>
                <a:sym typeface="Oswald"/>
              </a:rPr>
              <a:t>Region Population 123,970,000</a:t>
            </a:r>
            <a:r>
              <a:rPr lang="en-US" sz="1400" dirty="0">
                <a:solidFill>
                  <a:schemeClr val="dk1"/>
                </a:solidFill>
                <a:latin typeface="Oswald"/>
                <a:ea typeface="Oswald"/>
                <a:cs typeface="Oswald"/>
                <a:sym typeface="Oswald"/>
              </a:rPr>
              <a:t> </a:t>
            </a:r>
          </a:p>
        </p:txBody>
      </p:sp>
      <p:sp>
        <p:nvSpPr>
          <p:cNvPr id="29" name="TextBox 28">
            <a:extLst>
              <a:ext uri="{FF2B5EF4-FFF2-40B4-BE49-F238E27FC236}">
                <a16:creationId xmlns:a16="http://schemas.microsoft.com/office/drawing/2014/main" id="{A62941E6-D35F-2BAD-5D62-1743B0F583BD}"/>
              </a:ext>
            </a:extLst>
          </p:cNvPr>
          <p:cNvSpPr txBox="1"/>
          <p:nvPr/>
        </p:nvSpPr>
        <p:spPr>
          <a:xfrm>
            <a:off x="6138123" y="4266707"/>
            <a:ext cx="2493168" cy="449097"/>
          </a:xfrm>
          <a:prstGeom prst="rect">
            <a:avLst/>
          </a:prstGeom>
          <a:noFill/>
        </p:spPr>
        <p:txBody>
          <a:bodyPr wrap="square">
            <a:spAutoFit/>
          </a:bodyPr>
          <a:lstStyle/>
          <a:p>
            <a:pPr marL="114300" lvl="0" algn="l" rtl="0">
              <a:lnSpc>
                <a:spcPct val="115000"/>
              </a:lnSpc>
              <a:spcBef>
                <a:spcPts val="0"/>
              </a:spcBef>
              <a:spcAft>
                <a:spcPts val="0"/>
              </a:spcAft>
              <a:buClr>
                <a:schemeClr val="dk1"/>
              </a:buClr>
              <a:buSzPts val="1800"/>
            </a:pPr>
            <a:r>
              <a:rPr lang="en-US" sz="1050" dirty="0">
                <a:solidFill>
                  <a:schemeClr val="dk1"/>
                </a:solidFill>
                <a:latin typeface="Oswald"/>
                <a:ea typeface="Oswald"/>
                <a:cs typeface="Oswald"/>
                <a:sym typeface="Oswald"/>
              </a:rPr>
              <a:t>Captured 9% of global sales in 2013 and has maintained a stable market share.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11700" y="237856"/>
            <a:ext cx="8520600" cy="572700"/>
          </a:xfrm>
        </p:spPr>
        <p:txBody>
          <a:bodyPr spcFirstLastPara="1" wrap="square" lIns="91425" tIns="91425" rIns="91425" bIns="91425" anchor="ctr" anchorCtr="0">
            <a:noAutofit/>
          </a:bodyPr>
          <a:lstStyle/>
          <a:p>
            <a:pPr marL="0" lvl="0" indent="0" rtl="0">
              <a:lnSpc>
                <a:spcPct val="90000"/>
              </a:lnSpc>
              <a:spcBef>
                <a:spcPts val="0"/>
              </a:spcBef>
              <a:spcAft>
                <a:spcPts val="0"/>
              </a:spcAft>
              <a:buNone/>
            </a:pPr>
            <a:r>
              <a:rPr lang="en-US" sz="4200" dirty="0">
                <a:solidFill>
                  <a:schemeClr val="accent1"/>
                </a:solidFill>
              </a:rPr>
              <a:t>Genre Preferences:</a:t>
            </a:r>
          </a:p>
        </p:txBody>
      </p:sp>
      <p:pic>
        <p:nvPicPr>
          <p:cNvPr id="4" name="Picture 3">
            <a:extLst>
              <a:ext uri="{FF2B5EF4-FFF2-40B4-BE49-F238E27FC236}">
                <a16:creationId xmlns:a16="http://schemas.microsoft.com/office/drawing/2014/main" id="{2A4AA0FE-4380-3B34-E153-7B31376CFDD6}"/>
              </a:ext>
            </a:extLst>
          </p:cNvPr>
          <p:cNvPicPr>
            <a:picLocks noChangeAspect="1"/>
          </p:cNvPicPr>
          <p:nvPr/>
        </p:nvPicPr>
        <p:blipFill>
          <a:blip r:embed="rId3"/>
          <a:stretch>
            <a:fillRect/>
          </a:stretch>
        </p:blipFill>
        <p:spPr>
          <a:xfrm>
            <a:off x="1836233" y="922936"/>
            <a:ext cx="5286945" cy="31777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graphicFrame>
        <p:nvGraphicFramePr>
          <p:cNvPr id="147" name="Google Shape;147;p25"/>
          <p:cNvGraphicFramePr/>
          <p:nvPr>
            <p:extLst>
              <p:ext uri="{D42A27DB-BD31-4B8C-83A1-F6EECF244321}">
                <p14:modId xmlns:p14="http://schemas.microsoft.com/office/powerpoint/2010/main" val="2103387531"/>
              </p:ext>
            </p:extLst>
          </p:nvPr>
        </p:nvGraphicFramePr>
        <p:xfrm>
          <a:off x="200800" y="216513"/>
          <a:ext cx="4218525" cy="4019472"/>
        </p:xfrm>
        <a:graphic>
          <a:graphicData uri="http://schemas.openxmlformats.org/drawingml/2006/table">
            <a:tbl>
              <a:tblPr>
                <a:noFill/>
                <a:tableStyleId>{368A3874-43D9-4264-9E03-1732FEF052E6}</a:tableStyleId>
              </a:tblPr>
              <a:tblGrid>
                <a:gridCol w="4218525">
                  <a:extLst>
                    <a:ext uri="{9D8B030D-6E8A-4147-A177-3AD203B41FA5}">
                      <a16:colId xmlns:a16="http://schemas.microsoft.com/office/drawing/2014/main" val="20000"/>
                    </a:ext>
                  </a:extLst>
                </a:gridCol>
              </a:tblGrid>
              <a:tr h="1299419">
                <a:tc>
                  <a:txBody>
                    <a:bodyPr/>
                    <a:lstStyle/>
                    <a:p>
                      <a:pPr marL="0" lvl="0" indent="0" algn="l" rtl="0">
                        <a:lnSpc>
                          <a:spcPct val="115000"/>
                        </a:lnSpc>
                        <a:spcBef>
                          <a:spcPts val="0"/>
                        </a:spcBef>
                        <a:spcAft>
                          <a:spcPts val="0"/>
                        </a:spcAft>
                        <a:buNone/>
                      </a:pPr>
                      <a:r>
                        <a:rPr lang="en" sz="1200" b="1" dirty="0">
                          <a:solidFill>
                            <a:schemeClr val="dk1"/>
                          </a:solidFill>
                          <a:latin typeface="Oswald"/>
                          <a:ea typeface="Oswald"/>
                          <a:cs typeface="Oswald"/>
                          <a:sym typeface="Oswald"/>
                        </a:rPr>
                        <a:t>North America’s Top 3 Genre Preference</a:t>
                      </a:r>
                      <a:endParaRPr sz="1200" b="1" dirty="0">
                        <a:solidFill>
                          <a:schemeClr val="dk1"/>
                        </a:solidFill>
                        <a:latin typeface="Oswald"/>
                        <a:ea typeface="Oswald"/>
                        <a:cs typeface="Oswald"/>
                        <a:sym typeface="Oswald"/>
                      </a:endParaRPr>
                    </a:p>
                    <a:p>
                      <a:pPr marL="457200" lvl="0" indent="-298450" algn="l" rtl="0">
                        <a:lnSpc>
                          <a:spcPct val="115000"/>
                        </a:lnSpc>
                        <a:spcBef>
                          <a:spcPts val="0"/>
                        </a:spcBef>
                        <a:spcAft>
                          <a:spcPts val="0"/>
                        </a:spcAft>
                        <a:buClr>
                          <a:schemeClr val="dk1"/>
                        </a:buClr>
                        <a:buSzPts val="1100"/>
                        <a:buFont typeface="Oswald"/>
                        <a:buChar char="●"/>
                      </a:pPr>
                      <a:r>
                        <a:rPr lang="en" sz="1200" dirty="0">
                          <a:solidFill>
                            <a:schemeClr val="dk1"/>
                          </a:solidFill>
                          <a:latin typeface="Oswald"/>
                          <a:ea typeface="Oswald"/>
                          <a:cs typeface="Oswald"/>
                          <a:sym typeface="Oswald"/>
                        </a:rPr>
                        <a:t>Top-selling genres include Action (24%), Shooter, and Sports.</a:t>
                      </a:r>
                      <a:endParaRPr sz="1200" dirty="0">
                        <a:solidFill>
                          <a:schemeClr val="dk1"/>
                        </a:solidFill>
                        <a:latin typeface="Oswald"/>
                        <a:ea typeface="Oswald"/>
                        <a:cs typeface="Oswald"/>
                        <a:sym typeface="Oswald"/>
                      </a:endParaRPr>
                    </a:p>
                    <a:p>
                      <a:pPr marL="457200" lvl="0" indent="-298450" algn="l" rtl="0">
                        <a:lnSpc>
                          <a:spcPct val="115000"/>
                        </a:lnSpc>
                        <a:spcBef>
                          <a:spcPts val="0"/>
                        </a:spcBef>
                        <a:spcAft>
                          <a:spcPts val="0"/>
                        </a:spcAft>
                        <a:buClr>
                          <a:schemeClr val="dk1"/>
                        </a:buClr>
                        <a:buSzPts val="1100"/>
                        <a:buFont typeface="Oswald"/>
                        <a:buChar char="●"/>
                      </a:pPr>
                      <a:r>
                        <a:rPr lang="en" sz="1200" dirty="0">
                          <a:solidFill>
                            <a:schemeClr val="dk1"/>
                          </a:solidFill>
                          <a:latin typeface="Oswald"/>
                          <a:ea typeface="Oswald"/>
                          <a:cs typeface="Oswald"/>
                          <a:sym typeface="Oswald"/>
                        </a:rPr>
                        <a:t>Action games lead the market, indicating a strong consumer preference.</a:t>
                      </a:r>
                      <a:endParaRPr sz="1200" b="1" dirty="0">
                        <a:solidFill>
                          <a:schemeClr val="dk1"/>
                        </a:solidFill>
                        <a:latin typeface="Oswald"/>
                        <a:ea typeface="Oswald"/>
                        <a:cs typeface="Oswald"/>
                        <a:sym typeface="Oswald"/>
                      </a:endParaRPr>
                    </a:p>
                  </a:txBody>
                  <a:tcPr marL="63500" marR="63500" marT="63500" marB="63500"/>
                </a:tc>
                <a:extLst>
                  <a:ext uri="{0D108BD9-81ED-4DB2-BD59-A6C34878D82A}">
                    <a16:rowId xmlns:a16="http://schemas.microsoft.com/office/drawing/2014/main" val="10000"/>
                  </a:ext>
                </a:extLst>
              </a:tr>
              <a:tr h="1322320">
                <a:tc>
                  <a:txBody>
                    <a:bodyPr/>
                    <a:lstStyle/>
                    <a:p>
                      <a:pPr marL="0" lvl="0" indent="0" algn="l" rtl="0">
                        <a:lnSpc>
                          <a:spcPct val="115000"/>
                        </a:lnSpc>
                        <a:spcBef>
                          <a:spcPts val="0"/>
                        </a:spcBef>
                        <a:spcAft>
                          <a:spcPts val="0"/>
                        </a:spcAft>
                        <a:buNone/>
                      </a:pPr>
                      <a:r>
                        <a:rPr lang="en" sz="1200" b="1" dirty="0">
                          <a:solidFill>
                            <a:schemeClr val="dk1"/>
                          </a:solidFill>
                          <a:latin typeface="Oswald"/>
                          <a:ea typeface="Oswald"/>
                          <a:cs typeface="Oswald"/>
                          <a:sym typeface="Oswald"/>
                        </a:rPr>
                        <a:t>European’s Top 3 Genre Preference</a:t>
                      </a:r>
                      <a:endParaRPr sz="1200" b="1" dirty="0">
                        <a:solidFill>
                          <a:schemeClr val="dk1"/>
                        </a:solidFill>
                        <a:latin typeface="Oswald"/>
                        <a:ea typeface="Oswald"/>
                        <a:cs typeface="Oswald"/>
                        <a:sym typeface="Oswald"/>
                      </a:endParaRPr>
                    </a:p>
                    <a:p>
                      <a:pPr marL="457200" lvl="0" indent="-298450" algn="l" rtl="0">
                        <a:lnSpc>
                          <a:spcPct val="115000"/>
                        </a:lnSpc>
                        <a:spcBef>
                          <a:spcPts val="1200"/>
                        </a:spcBef>
                        <a:spcAft>
                          <a:spcPts val="0"/>
                        </a:spcAft>
                        <a:buClr>
                          <a:schemeClr val="dk1"/>
                        </a:buClr>
                        <a:buSzPts val="1100"/>
                        <a:buFont typeface="Oswald"/>
                        <a:buChar char="●"/>
                      </a:pPr>
                      <a:r>
                        <a:rPr lang="en" sz="1200" dirty="0">
                          <a:solidFill>
                            <a:schemeClr val="dk1"/>
                          </a:solidFill>
                          <a:latin typeface="Oswald"/>
                          <a:ea typeface="Oswald"/>
                          <a:cs typeface="Oswald"/>
                          <a:sym typeface="Oswald"/>
                        </a:rPr>
                        <a:t>Similar genre preferences to North America with Action (26%) leading, followed by Shooter (17%). </a:t>
                      </a:r>
                      <a:endParaRPr sz="1200" dirty="0">
                        <a:solidFill>
                          <a:schemeClr val="dk1"/>
                        </a:solidFill>
                        <a:latin typeface="Oswald"/>
                        <a:ea typeface="Oswald"/>
                        <a:cs typeface="Oswald"/>
                        <a:sym typeface="Oswald"/>
                      </a:endParaRPr>
                    </a:p>
                    <a:p>
                      <a:pPr marL="457200" lvl="0" indent="-298450" algn="l" rtl="0">
                        <a:lnSpc>
                          <a:spcPct val="115000"/>
                        </a:lnSpc>
                        <a:spcBef>
                          <a:spcPts val="0"/>
                        </a:spcBef>
                        <a:spcAft>
                          <a:spcPts val="0"/>
                        </a:spcAft>
                        <a:buClr>
                          <a:schemeClr val="dk1"/>
                        </a:buClr>
                        <a:buSzPts val="1100"/>
                        <a:buFont typeface="Oswald"/>
                        <a:buChar char="●"/>
                      </a:pPr>
                      <a:r>
                        <a:rPr lang="en" sz="1200" dirty="0">
                          <a:solidFill>
                            <a:schemeClr val="dk1"/>
                          </a:solidFill>
                          <a:latin typeface="Oswald"/>
                          <a:ea typeface="Oswald"/>
                          <a:cs typeface="Oswald"/>
                          <a:sym typeface="Oswald"/>
                        </a:rPr>
                        <a:t>The shared preference for Action games suggests potential for cross-regional game development.</a:t>
                      </a:r>
                      <a:endParaRPr sz="1200" dirty="0">
                        <a:solidFill>
                          <a:schemeClr val="dk1"/>
                        </a:solidFill>
                        <a:latin typeface="Oswald"/>
                        <a:ea typeface="Oswald"/>
                        <a:cs typeface="Oswald"/>
                        <a:sym typeface="Oswald"/>
                      </a:endParaRPr>
                    </a:p>
                  </a:txBody>
                  <a:tcPr marL="63500" marR="63500" marT="63500" marB="63500"/>
                </a:tc>
                <a:extLst>
                  <a:ext uri="{0D108BD9-81ED-4DB2-BD59-A6C34878D82A}">
                    <a16:rowId xmlns:a16="http://schemas.microsoft.com/office/drawing/2014/main" val="10001"/>
                  </a:ext>
                </a:extLst>
              </a:tr>
              <a:tr h="1397733">
                <a:tc>
                  <a:txBody>
                    <a:bodyPr/>
                    <a:lstStyle/>
                    <a:p>
                      <a:pPr marL="0" lvl="0" indent="0" algn="just" rtl="0">
                        <a:lnSpc>
                          <a:spcPct val="115000"/>
                        </a:lnSpc>
                        <a:spcBef>
                          <a:spcPts val="0"/>
                        </a:spcBef>
                        <a:spcAft>
                          <a:spcPts val="0"/>
                        </a:spcAft>
                        <a:buNone/>
                      </a:pPr>
                      <a:r>
                        <a:rPr lang="en" sz="1200" b="1" dirty="0">
                          <a:solidFill>
                            <a:schemeClr val="dk1"/>
                          </a:solidFill>
                          <a:latin typeface="Oswald"/>
                          <a:ea typeface="Oswald"/>
                          <a:cs typeface="Oswald"/>
                          <a:sym typeface="Oswald"/>
                        </a:rPr>
                        <a:t>Japan’s Top 3 Genre Preference</a:t>
                      </a:r>
                      <a:r>
                        <a:rPr lang="en" sz="1200" dirty="0">
                          <a:solidFill>
                            <a:schemeClr val="dk1"/>
                          </a:solidFill>
                          <a:latin typeface="Oswald"/>
                          <a:ea typeface="Oswald"/>
                          <a:cs typeface="Oswald"/>
                          <a:sym typeface="Oswald"/>
                        </a:rPr>
                        <a:t> </a:t>
                      </a:r>
                      <a:endParaRPr sz="1200" dirty="0">
                        <a:solidFill>
                          <a:schemeClr val="dk1"/>
                        </a:solidFill>
                        <a:latin typeface="Oswald"/>
                        <a:ea typeface="Oswald"/>
                        <a:cs typeface="Oswald"/>
                        <a:sym typeface="Oswald"/>
                      </a:endParaRPr>
                    </a:p>
                    <a:p>
                      <a:pPr marL="0" lvl="0" indent="0" algn="just" rtl="0">
                        <a:lnSpc>
                          <a:spcPct val="115000"/>
                        </a:lnSpc>
                        <a:spcBef>
                          <a:spcPts val="0"/>
                        </a:spcBef>
                        <a:spcAft>
                          <a:spcPts val="0"/>
                        </a:spcAft>
                        <a:buNone/>
                      </a:pPr>
                      <a:endParaRPr sz="1200" dirty="0">
                        <a:solidFill>
                          <a:schemeClr val="dk1"/>
                        </a:solidFill>
                        <a:latin typeface="Oswald"/>
                        <a:ea typeface="Oswald"/>
                        <a:cs typeface="Oswald"/>
                        <a:sym typeface="Oswald"/>
                      </a:endParaRPr>
                    </a:p>
                    <a:p>
                      <a:pPr marL="457200" lvl="0" indent="-298450" algn="l" rtl="0">
                        <a:lnSpc>
                          <a:spcPct val="115000"/>
                        </a:lnSpc>
                        <a:spcBef>
                          <a:spcPts val="0"/>
                        </a:spcBef>
                        <a:spcAft>
                          <a:spcPts val="0"/>
                        </a:spcAft>
                        <a:buClr>
                          <a:schemeClr val="dk1"/>
                        </a:buClr>
                        <a:buSzPts val="1100"/>
                        <a:buFont typeface="Oswald"/>
                        <a:buChar char="●"/>
                      </a:pPr>
                      <a:r>
                        <a:rPr lang="en" sz="1200" dirty="0">
                          <a:solidFill>
                            <a:schemeClr val="dk1"/>
                          </a:solidFill>
                          <a:latin typeface="Oswald"/>
                          <a:ea typeface="Oswald"/>
                          <a:cs typeface="Oswald"/>
                          <a:sym typeface="Oswald"/>
                        </a:rPr>
                        <a:t>Strong preference for Role-Playing Games (RPG) at 32% of sales, followed by Action at 21%. </a:t>
                      </a:r>
                      <a:endParaRPr sz="1200" dirty="0">
                        <a:solidFill>
                          <a:schemeClr val="dk1"/>
                        </a:solidFill>
                        <a:latin typeface="Oswald"/>
                        <a:ea typeface="Oswald"/>
                        <a:cs typeface="Oswald"/>
                        <a:sym typeface="Oswald"/>
                      </a:endParaRPr>
                    </a:p>
                    <a:p>
                      <a:pPr marL="457200" lvl="0" indent="-298450" algn="l" rtl="0">
                        <a:lnSpc>
                          <a:spcPct val="115000"/>
                        </a:lnSpc>
                        <a:spcBef>
                          <a:spcPts val="0"/>
                        </a:spcBef>
                        <a:spcAft>
                          <a:spcPts val="0"/>
                        </a:spcAft>
                        <a:buClr>
                          <a:schemeClr val="dk1"/>
                        </a:buClr>
                        <a:buSzPts val="1100"/>
                        <a:buFont typeface="Oswald"/>
                        <a:buChar char="●"/>
                      </a:pPr>
                      <a:r>
                        <a:rPr lang="en" sz="1200" dirty="0">
                          <a:solidFill>
                            <a:schemeClr val="dk1"/>
                          </a:solidFill>
                          <a:latin typeface="Oswald"/>
                          <a:ea typeface="Oswald"/>
                          <a:cs typeface="Oswald"/>
                          <a:sym typeface="Oswald"/>
                        </a:rPr>
                        <a:t>The focus on RPGs makes Japan a unique market, highlighting the need for local adaptations.</a:t>
                      </a:r>
                      <a:endParaRPr sz="1200" dirty="0">
                        <a:solidFill>
                          <a:schemeClr val="dk1"/>
                        </a:solidFill>
                        <a:latin typeface="Oswald"/>
                        <a:ea typeface="Oswald"/>
                        <a:cs typeface="Oswald"/>
                        <a:sym typeface="Oswald"/>
                      </a:endParaRPr>
                    </a:p>
                  </a:txBody>
                  <a:tcPr marL="63500" marR="63500" marT="63500" marB="63500"/>
                </a:tc>
                <a:extLst>
                  <a:ext uri="{0D108BD9-81ED-4DB2-BD59-A6C34878D82A}">
                    <a16:rowId xmlns:a16="http://schemas.microsoft.com/office/drawing/2014/main" val="10002"/>
                  </a:ext>
                </a:extLst>
              </a:tr>
            </a:tbl>
          </a:graphicData>
        </a:graphic>
      </p:graphicFrame>
      <p:pic>
        <p:nvPicPr>
          <p:cNvPr id="4" name="Picture 3">
            <a:extLst>
              <a:ext uri="{FF2B5EF4-FFF2-40B4-BE49-F238E27FC236}">
                <a16:creationId xmlns:a16="http://schemas.microsoft.com/office/drawing/2014/main" id="{77859584-5C0F-43B9-6811-88CB478A10CD}"/>
              </a:ext>
            </a:extLst>
          </p:cNvPr>
          <p:cNvPicPr>
            <a:picLocks noChangeAspect="1"/>
          </p:cNvPicPr>
          <p:nvPr/>
        </p:nvPicPr>
        <p:blipFill>
          <a:blip r:embed="rId3"/>
          <a:stretch>
            <a:fillRect/>
          </a:stretch>
        </p:blipFill>
        <p:spPr>
          <a:xfrm>
            <a:off x="4724677" y="216513"/>
            <a:ext cx="3663403" cy="40194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Shape 152"/>
        <p:cNvGrpSpPr/>
        <p:nvPr/>
      </p:nvGrpSpPr>
      <p:grpSpPr>
        <a:xfrm>
          <a:off x="0" y="0"/>
          <a:ext cx="0" cy="0"/>
          <a:chOff x="0" y="0"/>
          <a:chExt cx="0" cy="0"/>
        </a:xfrm>
      </p:grpSpPr>
      <p:sp>
        <p:nvSpPr>
          <p:cNvPr id="153" name="Google Shape;153;p26"/>
          <p:cNvSpPr txBox="1">
            <a:spLocks noGrp="1"/>
          </p:cNvSpPr>
          <p:nvPr>
            <p:ph type="title"/>
          </p:nvPr>
        </p:nvSpPr>
        <p:spPr>
          <a:xfrm>
            <a:off x="501844" y="96800"/>
            <a:ext cx="7852200" cy="86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200" dirty="0"/>
              <a:t>Publishers Performance</a:t>
            </a:r>
            <a:endParaRPr sz="4200" dirty="0"/>
          </a:p>
        </p:txBody>
      </p:sp>
      <p:pic>
        <p:nvPicPr>
          <p:cNvPr id="154" name="Google Shape;154;p26"/>
          <p:cNvPicPr preferRelativeResize="0"/>
          <p:nvPr/>
        </p:nvPicPr>
        <p:blipFill>
          <a:blip r:embed="rId3">
            <a:alphaModFix/>
          </a:blip>
          <a:stretch>
            <a:fillRect/>
          </a:stretch>
        </p:blipFill>
        <p:spPr>
          <a:xfrm>
            <a:off x="1092012" y="1017425"/>
            <a:ext cx="7057626" cy="3598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524456" y="101163"/>
            <a:ext cx="7852200" cy="861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200" dirty="0"/>
              <a:t>Publisher’s Performance</a:t>
            </a:r>
            <a:endParaRPr sz="4200" dirty="0"/>
          </a:p>
        </p:txBody>
      </p:sp>
      <p:graphicFrame>
        <p:nvGraphicFramePr>
          <p:cNvPr id="160" name="Google Shape;160;p27"/>
          <p:cNvGraphicFramePr/>
          <p:nvPr>
            <p:extLst>
              <p:ext uri="{D42A27DB-BD31-4B8C-83A1-F6EECF244321}">
                <p14:modId xmlns:p14="http://schemas.microsoft.com/office/powerpoint/2010/main" val="1345086904"/>
              </p:ext>
            </p:extLst>
          </p:nvPr>
        </p:nvGraphicFramePr>
        <p:xfrm>
          <a:off x="1500950" y="962163"/>
          <a:ext cx="5620962" cy="3463671"/>
        </p:xfrm>
        <a:graphic>
          <a:graphicData uri="http://schemas.openxmlformats.org/drawingml/2006/table">
            <a:tbl>
              <a:tblPr>
                <a:noFill/>
                <a:tableStyleId>{368A3874-43D9-4264-9E03-1732FEF052E6}</a:tableStyleId>
              </a:tblPr>
              <a:tblGrid>
                <a:gridCol w="5620962">
                  <a:extLst>
                    <a:ext uri="{9D8B030D-6E8A-4147-A177-3AD203B41FA5}">
                      <a16:colId xmlns:a16="http://schemas.microsoft.com/office/drawing/2014/main" val="20000"/>
                    </a:ext>
                  </a:extLst>
                </a:gridCol>
              </a:tblGrid>
              <a:tr h="859968">
                <a:tc>
                  <a:txBody>
                    <a:bodyPr/>
                    <a:lstStyle/>
                    <a:p>
                      <a:pPr marL="0" lvl="0" indent="0" algn="l" rtl="0">
                        <a:lnSpc>
                          <a:spcPct val="115000"/>
                        </a:lnSpc>
                        <a:spcBef>
                          <a:spcPts val="1200"/>
                        </a:spcBef>
                        <a:spcAft>
                          <a:spcPts val="0"/>
                        </a:spcAft>
                        <a:buNone/>
                      </a:pPr>
                      <a:r>
                        <a:rPr lang="en" sz="1200" b="1">
                          <a:solidFill>
                            <a:schemeClr val="dk1"/>
                          </a:solidFill>
                          <a:latin typeface="Oswald"/>
                          <a:ea typeface="Oswald"/>
                          <a:cs typeface="Oswald"/>
                          <a:sym typeface="Oswald"/>
                        </a:rPr>
                        <a:t>North America</a:t>
                      </a:r>
                      <a:endParaRPr sz="1200" b="1">
                        <a:solidFill>
                          <a:schemeClr val="dk1"/>
                        </a:solidFill>
                        <a:latin typeface="Oswald"/>
                        <a:ea typeface="Oswald"/>
                        <a:cs typeface="Oswald"/>
                        <a:sym typeface="Oswald"/>
                      </a:endParaRPr>
                    </a:p>
                    <a:p>
                      <a:pPr marL="457200" lvl="0" indent="-304800" algn="l" rtl="0">
                        <a:lnSpc>
                          <a:spcPct val="115000"/>
                        </a:lnSpc>
                        <a:spcBef>
                          <a:spcPts val="1200"/>
                        </a:spcBef>
                        <a:spcAft>
                          <a:spcPts val="0"/>
                        </a:spcAft>
                        <a:buClr>
                          <a:schemeClr val="dk1"/>
                        </a:buClr>
                        <a:buSzPts val="1200"/>
                        <a:buFont typeface="Oswald"/>
                        <a:buChar char="●"/>
                      </a:pPr>
                      <a:r>
                        <a:rPr lang="en" sz="1200">
                          <a:solidFill>
                            <a:schemeClr val="dk1"/>
                          </a:solidFill>
                          <a:latin typeface="Oswald"/>
                          <a:ea typeface="Oswald"/>
                          <a:cs typeface="Oswald"/>
                          <a:sym typeface="Oswald"/>
                        </a:rPr>
                        <a:t>Key publishers include Microsoft Game Studios, Bethesda Softworks, and Hello Games.</a:t>
                      </a:r>
                      <a:endParaRPr sz="1200">
                        <a:solidFill>
                          <a:schemeClr val="dk1"/>
                        </a:solidFill>
                        <a:latin typeface="Oswald"/>
                        <a:ea typeface="Oswald"/>
                        <a:cs typeface="Oswald"/>
                        <a:sym typeface="Oswald"/>
                      </a:endParaRPr>
                    </a:p>
                    <a:p>
                      <a:pPr marL="457200" lvl="0" indent="-304800" algn="l" rtl="0">
                        <a:lnSpc>
                          <a:spcPct val="115000"/>
                        </a:lnSpc>
                        <a:spcBef>
                          <a:spcPts val="0"/>
                        </a:spcBef>
                        <a:spcAft>
                          <a:spcPts val="0"/>
                        </a:spcAft>
                        <a:buClr>
                          <a:schemeClr val="dk1"/>
                        </a:buClr>
                        <a:buSzPts val="1200"/>
                        <a:buFont typeface="Oswald"/>
                        <a:buChar char="●"/>
                      </a:pPr>
                      <a:r>
                        <a:rPr lang="en" sz="1200">
                          <a:solidFill>
                            <a:schemeClr val="dk1"/>
                          </a:solidFill>
                          <a:latin typeface="Oswald"/>
                          <a:ea typeface="Oswald"/>
                          <a:cs typeface="Oswald"/>
                          <a:sym typeface="Oswald"/>
                        </a:rPr>
                        <a:t>These publishers dominate the market from 2015-2016, reflecting consumer preferences.</a:t>
                      </a:r>
                      <a:endParaRPr sz="1200" b="1">
                        <a:solidFill>
                          <a:schemeClr val="dk1"/>
                        </a:solidFill>
                        <a:latin typeface="Oswald"/>
                        <a:ea typeface="Oswald"/>
                        <a:cs typeface="Oswald"/>
                        <a:sym typeface="Oswald"/>
                      </a:endParaRPr>
                    </a:p>
                  </a:txBody>
                  <a:tcPr marL="63500" marR="63500" marT="63500" marB="63500"/>
                </a:tc>
                <a:extLst>
                  <a:ext uri="{0D108BD9-81ED-4DB2-BD59-A6C34878D82A}">
                    <a16:rowId xmlns:a16="http://schemas.microsoft.com/office/drawing/2014/main" val="10000"/>
                  </a:ext>
                </a:extLst>
              </a:tr>
              <a:tr h="859968">
                <a:tc>
                  <a:txBody>
                    <a:bodyPr/>
                    <a:lstStyle/>
                    <a:p>
                      <a:pPr marL="0" lvl="0" indent="0" algn="l" rtl="0">
                        <a:lnSpc>
                          <a:spcPct val="115000"/>
                        </a:lnSpc>
                        <a:spcBef>
                          <a:spcPts val="1200"/>
                        </a:spcBef>
                        <a:spcAft>
                          <a:spcPts val="0"/>
                        </a:spcAft>
                        <a:buNone/>
                      </a:pPr>
                      <a:r>
                        <a:rPr lang="en" sz="1200" b="1">
                          <a:solidFill>
                            <a:schemeClr val="dk1"/>
                          </a:solidFill>
                          <a:latin typeface="Oswald"/>
                          <a:ea typeface="Oswald"/>
                          <a:cs typeface="Oswald"/>
                          <a:sym typeface="Oswald"/>
                        </a:rPr>
                        <a:t>Europe</a:t>
                      </a:r>
                      <a:endParaRPr sz="1200" b="1">
                        <a:solidFill>
                          <a:schemeClr val="dk1"/>
                        </a:solidFill>
                        <a:latin typeface="Oswald"/>
                        <a:ea typeface="Oswald"/>
                        <a:cs typeface="Oswald"/>
                        <a:sym typeface="Oswald"/>
                      </a:endParaRPr>
                    </a:p>
                    <a:p>
                      <a:pPr marL="457200" lvl="0" indent="-304800" algn="l" rtl="0">
                        <a:lnSpc>
                          <a:spcPct val="115000"/>
                        </a:lnSpc>
                        <a:spcBef>
                          <a:spcPts val="1200"/>
                        </a:spcBef>
                        <a:spcAft>
                          <a:spcPts val="0"/>
                        </a:spcAft>
                        <a:buClr>
                          <a:schemeClr val="dk1"/>
                        </a:buClr>
                        <a:buSzPts val="1200"/>
                        <a:buFont typeface="Oswald"/>
                        <a:buChar char="●"/>
                      </a:pPr>
                      <a:r>
                        <a:rPr lang="en" sz="1200">
                          <a:solidFill>
                            <a:schemeClr val="dk1"/>
                          </a:solidFill>
                          <a:latin typeface="Oswald"/>
                          <a:ea typeface="Oswald"/>
                          <a:cs typeface="Oswald"/>
                          <a:sym typeface="Oswald"/>
                        </a:rPr>
                        <a:t>Strong performance from Sony Computer Entertainment Europe and Hello Games.</a:t>
                      </a:r>
                      <a:endParaRPr sz="1200">
                        <a:solidFill>
                          <a:schemeClr val="dk1"/>
                        </a:solidFill>
                        <a:latin typeface="Oswald"/>
                        <a:ea typeface="Oswald"/>
                        <a:cs typeface="Oswald"/>
                        <a:sym typeface="Oswald"/>
                      </a:endParaRPr>
                    </a:p>
                    <a:p>
                      <a:pPr marL="457200" lvl="0" indent="-304800" algn="l" rtl="0">
                        <a:lnSpc>
                          <a:spcPct val="115000"/>
                        </a:lnSpc>
                        <a:spcBef>
                          <a:spcPts val="0"/>
                        </a:spcBef>
                        <a:spcAft>
                          <a:spcPts val="0"/>
                        </a:spcAft>
                        <a:buClr>
                          <a:schemeClr val="dk1"/>
                        </a:buClr>
                        <a:buSzPts val="1200"/>
                        <a:buFont typeface="Oswald"/>
                        <a:buChar char="●"/>
                      </a:pPr>
                      <a:r>
                        <a:rPr lang="en" sz="1200">
                          <a:solidFill>
                            <a:schemeClr val="dk1"/>
                          </a:solidFill>
                          <a:latin typeface="Oswald"/>
                          <a:ea typeface="Oswald"/>
                          <a:cs typeface="Oswald"/>
                          <a:sym typeface="Oswald"/>
                        </a:rPr>
                        <a:t>Bethesda Softworks also plays a significant role in the European market.</a:t>
                      </a:r>
                      <a:endParaRPr sz="1200">
                        <a:solidFill>
                          <a:schemeClr val="dk1"/>
                        </a:solidFill>
                        <a:latin typeface="Oswald"/>
                        <a:ea typeface="Oswald"/>
                        <a:cs typeface="Oswald"/>
                        <a:sym typeface="Oswald"/>
                      </a:endParaRPr>
                    </a:p>
                  </a:txBody>
                  <a:tcPr marL="63500" marR="63500" marT="63500" marB="63500"/>
                </a:tc>
                <a:extLst>
                  <a:ext uri="{0D108BD9-81ED-4DB2-BD59-A6C34878D82A}">
                    <a16:rowId xmlns:a16="http://schemas.microsoft.com/office/drawing/2014/main" val="10001"/>
                  </a:ext>
                </a:extLst>
              </a:tr>
              <a:tr h="1481023">
                <a:tc>
                  <a:txBody>
                    <a:bodyPr/>
                    <a:lstStyle/>
                    <a:p>
                      <a:pPr marL="0" lvl="0" indent="0" algn="l" rtl="0">
                        <a:lnSpc>
                          <a:spcPct val="115000"/>
                        </a:lnSpc>
                        <a:spcBef>
                          <a:spcPts val="1200"/>
                        </a:spcBef>
                        <a:spcAft>
                          <a:spcPts val="0"/>
                        </a:spcAft>
                        <a:buNone/>
                      </a:pPr>
                      <a:r>
                        <a:rPr lang="en" sz="1200" b="1" dirty="0">
                          <a:solidFill>
                            <a:schemeClr val="dk1"/>
                          </a:solidFill>
                          <a:latin typeface="Oswald"/>
                          <a:ea typeface="Oswald"/>
                          <a:cs typeface="Oswald"/>
                          <a:sym typeface="Oswald"/>
                        </a:rPr>
                        <a:t>Japan</a:t>
                      </a:r>
                      <a:endParaRPr sz="1200" b="1" dirty="0">
                        <a:solidFill>
                          <a:schemeClr val="dk1"/>
                        </a:solidFill>
                        <a:latin typeface="Oswald"/>
                        <a:ea typeface="Oswald"/>
                        <a:cs typeface="Oswald"/>
                        <a:sym typeface="Oswald"/>
                      </a:endParaRPr>
                    </a:p>
                    <a:p>
                      <a:pPr marL="457200" lvl="0" indent="-304800" algn="l" rtl="0">
                        <a:lnSpc>
                          <a:spcPct val="115000"/>
                        </a:lnSpc>
                        <a:spcBef>
                          <a:spcPts val="1200"/>
                        </a:spcBef>
                        <a:spcAft>
                          <a:spcPts val="0"/>
                        </a:spcAft>
                        <a:buClr>
                          <a:schemeClr val="dk1"/>
                        </a:buClr>
                        <a:buSzPts val="1200"/>
                        <a:buFont typeface="Oswald"/>
                        <a:buChar char="●"/>
                      </a:pPr>
                      <a:r>
                        <a:rPr lang="en" sz="1200" dirty="0">
                          <a:solidFill>
                            <a:schemeClr val="dk1"/>
                          </a:solidFill>
                          <a:latin typeface="Oswald"/>
                          <a:ea typeface="Oswald"/>
                          <a:cs typeface="Oswald"/>
                          <a:sym typeface="Oswald"/>
                        </a:rPr>
                        <a:t>Local publishers like Level-5 and Mixi Inc. dominate the market, focusing in mobile gaming and RPGs (Role-Play Games)</a:t>
                      </a:r>
                      <a:endParaRPr sz="1200" dirty="0">
                        <a:solidFill>
                          <a:schemeClr val="dk1"/>
                        </a:solidFill>
                        <a:latin typeface="Oswald"/>
                        <a:ea typeface="Oswald"/>
                        <a:cs typeface="Oswald"/>
                        <a:sym typeface="Oswald"/>
                      </a:endParaRPr>
                    </a:p>
                    <a:p>
                      <a:pPr marL="457200" lvl="0" indent="-304800" algn="l" rtl="0">
                        <a:lnSpc>
                          <a:spcPct val="115000"/>
                        </a:lnSpc>
                        <a:spcBef>
                          <a:spcPts val="0"/>
                        </a:spcBef>
                        <a:spcAft>
                          <a:spcPts val="0"/>
                        </a:spcAft>
                        <a:buClr>
                          <a:schemeClr val="dk1"/>
                        </a:buClr>
                        <a:buSzPts val="1200"/>
                        <a:buFont typeface="Oswald"/>
                        <a:buChar char="●"/>
                      </a:pPr>
                      <a:r>
                        <a:rPr lang="en" sz="1200" dirty="0">
                          <a:solidFill>
                            <a:schemeClr val="dk1"/>
                          </a:solidFill>
                          <a:latin typeface="Oswald"/>
                          <a:ea typeface="Oswald"/>
                          <a:cs typeface="Oswald"/>
                          <a:sym typeface="Oswald"/>
                        </a:rPr>
                        <a:t>The contrast with North America and Europe highlights the importance of catering to local tastes.</a:t>
                      </a:r>
                      <a:endParaRPr sz="1200" dirty="0">
                        <a:solidFill>
                          <a:schemeClr val="dk1"/>
                        </a:solidFill>
                        <a:latin typeface="Oswald"/>
                        <a:ea typeface="Oswald"/>
                        <a:cs typeface="Oswald"/>
                        <a:sym typeface="Oswald"/>
                      </a:endParaRPr>
                    </a:p>
                    <a:p>
                      <a:pPr marL="0" lvl="0" indent="0" algn="l" rtl="0">
                        <a:lnSpc>
                          <a:spcPct val="115000"/>
                        </a:lnSpc>
                        <a:spcBef>
                          <a:spcPts val="1200"/>
                        </a:spcBef>
                        <a:spcAft>
                          <a:spcPts val="0"/>
                        </a:spcAft>
                        <a:buNone/>
                      </a:pPr>
                      <a:endParaRPr sz="1200" dirty="0">
                        <a:solidFill>
                          <a:schemeClr val="dk1"/>
                        </a:solidFill>
                        <a:latin typeface="Oswald"/>
                        <a:ea typeface="Oswald"/>
                        <a:cs typeface="Oswald"/>
                        <a:sym typeface="Oswald"/>
                      </a:endParaRPr>
                    </a:p>
                  </a:txBody>
                  <a:tcPr marL="63500" marR="63500" marT="63500" marB="63500"/>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164"/>
        <p:cNvGrpSpPr/>
        <p:nvPr/>
      </p:nvGrpSpPr>
      <p:grpSpPr>
        <a:xfrm>
          <a:off x="0" y="0"/>
          <a:ext cx="0" cy="0"/>
          <a:chOff x="0" y="0"/>
          <a:chExt cx="0" cy="0"/>
        </a:xfrm>
      </p:grpSpPr>
      <p:sp>
        <p:nvSpPr>
          <p:cNvPr id="165" name="Google Shape;165;p28"/>
          <p:cNvSpPr txBox="1">
            <a:spLocks noGrp="1"/>
          </p:cNvSpPr>
          <p:nvPr>
            <p:ph type="title"/>
          </p:nvPr>
        </p:nvSpPr>
        <p:spPr>
          <a:xfrm>
            <a:off x="476850" y="276775"/>
            <a:ext cx="421659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dirty="0"/>
              <a:t>Platform Trends</a:t>
            </a:r>
            <a:endParaRPr sz="4200" dirty="0"/>
          </a:p>
        </p:txBody>
      </p:sp>
      <p:sp>
        <p:nvSpPr>
          <p:cNvPr id="166" name="Google Shape;166;p28"/>
          <p:cNvSpPr txBox="1">
            <a:spLocks noGrp="1"/>
          </p:cNvSpPr>
          <p:nvPr>
            <p:ph type="body" idx="1"/>
          </p:nvPr>
        </p:nvSpPr>
        <p:spPr>
          <a:xfrm>
            <a:off x="4693444" y="355069"/>
            <a:ext cx="3999900" cy="210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latin typeface="Oswald"/>
                <a:ea typeface="Oswald"/>
                <a:cs typeface="Oswald"/>
                <a:sym typeface="Oswald"/>
              </a:rPr>
              <a:t>North America</a:t>
            </a:r>
            <a:endParaRPr sz="1200" b="1" dirty="0">
              <a:latin typeface="Oswald"/>
              <a:ea typeface="Oswald"/>
              <a:cs typeface="Oswald"/>
              <a:sym typeface="Oswald"/>
            </a:endParaRPr>
          </a:p>
          <a:p>
            <a:pPr marL="457200" lvl="0" indent="-330200" algn="l" rtl="0">
              <a:spcBef>
                <a:spcPts val="1600"/>
              </a:spcBef>
              <a:spcAft>
                <a:spcPts val="0"/>
              </a:spcAft>
              <a:buClr>
                <a:schemeClr val="dk1"/>
              </a:buClr>
              <a:buSzPts val="1600"/>
              <a:buFont typeface="Oswald"/>
              <a:buChar char="●"/>
            </a:pPr>
            <a:r>
              <a:rPr lang="en" sz="1200" dirty="0">
                <a:latin typeface="Oswald"/>
                <a:ea typeface="Oswald"/>
                <a:cs typeface="Oswald"/>
                <a:sym typeface="Oswald"/>
              </a:rPr>
              <a:t>Sales are driven by PlayStation (PS4), particularly for titles like Call of Duty: Black Ops 3.</a:t>
            </a:r>
            <a:endParaRPr sz="1200" dirty="0">
              <a:latin typeface="Oswald"/>
              <a:ea typeface="Oswald"/>
              <a:cs typeface="Oswald"/>
              <a:sym typeface="Oswald"/>
            </a:endParaRPr>
          </a:p>
          <a:p>
            <a:pPr marL="457200" lvl="0" indent="-330200" algn="l" rtl="0">
              <a:spcBef>
                <a:spcPts val="0"/>
              </a:spcBef>
              <a:spcAft>
                <a:spcPts val="0"/>
              </a:spcAft>
              <a:buClr>
                <a:schemeClr val="dk1"/>
              </a:buClr>
              <a:buSzPts val="1600"/>
              <a:buFont typeface="Oswald"/>
              <a:buChar char="●"/>
            </a:pPr>
            <a:r>
              <a:rPr lang="en" sz="1200" dirty="0">
                <a:latin typeface="Oswald"/>
                <a:ea typeface="Oswald"/>
                <a:cs typeface="Oswald"/>
                <a:sym typeface="Oswald"/>
              </a:rPr>
              <a:t>The PS4's dominance indicates a strong consumer preference for this platform</a:t>
            </a:r>
            <a:r>
              <a:rPr lang="en" sz="1600" dirty="0">
                <a:solidFill>
                  <a:schemeClr val="bg1"/>
                </a:solidFill>
                <a:latin typeface="Oswald"/>
                <a:ea typeface="Oswald"/>
                <a:cs typeface="Oswald"/>
                <a:sym typeface="Oswald"/>
              </a:rPr>
              <a:t>.</a:t>
            </a:r>
            <a:endParaRPr sz="1600" dirty="0">
              <a:solidFill>
                <a:schemeClr val="bg1"/>
              </a:solidFill>
              <a:latin typeface="Oswald"/>
              <a:ea typeface="Oswald"/>
              <a:cs typeface="Oswald"/>
              <a:sym typeface="Oswald"/>
            </a:endParaRPr>
          </a:p>
          <a:p>
            <a:pPr marL="457200" lvl="0" indent="0" algn="l" rtl="0">
              <a:spcBef>
                <a:spcPts val="1200"/>
              </a:spcBef>
              <a:spcAft>
                <a:spcPts val="1600"/>
              </a:spcAft>
              <a:buNone/>
            </a:pPr>
            <a:endParaRPr sz="1600" dirty="0"/>
          </a:p>
        </p:txBody>
      </p:sp>
      <p:sp>
        <p:nvSpPr>
          <p:cNvPr id="167" name="Google Shape;167;p28"/>
          <p:cNvSpPr txBox="1">
            <a:spLocks noGrp="1"/>
          </p:cNvSpPr>
          <p:nvPr>
            <p:ph type="body" idx="2"/>
          </p:nvPr>
        </p:nvSpPr>
        <p:spPr>
          <a:xfrm>
            <a:off x="4788694" y="1991887"/>
            <a:ext cx="3999900" cy="210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latin typeface="Oswald"/>
                <a:ea typeface="Oswald"/>
                <a:cs typeface="Oswald"/>
                <a:sym typeface="Oswald"/>
              </a:rPr>
              <a:t>Europe</a:t>
            </a:r>
            <a:endParaRPr sz="1200" b="1" dirty="0">
              <a:latin typeface="Oswald"/>
              <a:ea typeface="Oswald"/>
              <a:cs typeface="Oswald"/>
              <a:sym typeface="Oswald"/>
            </a:endParaRPr>
          </a:p>
          <a:p>
            <a:pPr marL="457200" lvl="0" indent="-330200" algn="l" rtl="0">
              <a:spcBef>
                <a:spcPts val="1600"/>
              </a:spcBef>
              <a:spcAft>
                <a:spcPts val="0"/>
              </a:spcAft>
              <a:buClr>
                <a:schemeClr val="dk1"/>
              </a:buClr>
              <a:buSzPts val="1600"/>
              <a:buFont typeface="Oswald"/>
              <a:buChar char="●"/>
            </a:pPr>
            <a:r>
              <a:rPr lang="en" sz="1200" dirty="0">
                <a:latin typeface="Oswald"/>
                <a:ea typeface="Oswald"/>
                <a:cs typeface="Oswald"/>
                <a:sym typeface="Oswald"/>
              </a:rPr>
              <a:t>Similar trends with PlayStation leading sales, especially for popular titles like FIFA 16.</a:t>
            </a:r>
            <a:endParaRPr sz="1200" dirty="0">
              <a:latin typeface="Oswald"/>
              <a:ea typeface="Oswald"/>
              <a:cs typeface="Oswald"/>
              <a:sym typeface="Oswald"/>
            </a:endParaRPr>
          </a:p>
          <a:p>
            <a:pPr marL="457200" lvl="0" indent="-330200" algn="l" rtl="0">
              <a:spcBef>
                <a:spcPts val="0"/>
              </a:spcBef>
              <a:spcAft>
                <a:spcPts val="0"/>
              </a:spcAft>
              <a:buClr>
                <a:schemeClr val="dk1"/>
              </a:buClr>
              <a:buSzPts val="1600"/>
              <a:buFont typeface="Oswald"/>
              <a:buChar char="●"/>
            </a:pPr>
            <a:r>
              <a:rPr lang="en" sz="1200" dirty="0">
                <a:latin typeface="Oswald"/>
                <a:ea typeface="Oswald"/>
                <a:cs typeface="Oswald"/>
                <a:sym typeface="Oswald"/>
              </a:rPr>
              <a:t>The platform's success underscores the importance of targeting PS4 for future releases.</a:t>
            </a:r>
            <a:endParaRPr sz="1200" dirty="0">
              <a:latin typeface="Oswald"/>
              <a:ea typeface="Oswald"/>
              <a:cs typeface="Oswald"/>
              <a:sym typeface="Oswald"/>
            </a:endParaRPr>
          </a:p>
        </p:txBody>
      </p:sp>
      <p:pic>
        <p:nvPicPr>
          <p:cNvPr id="3" name="Picture 2">
            <a:extLst>
              <a:ext uri="{FF2B5EF4-FFF2-40B4-BE49-F238E27FC236}">
                <a16:creationId xmlns:a16="http://schemas.microsoft.com/office/drawing/2014/main" id="{74DEE90E-A5B3-EDCA-81FE-FFC08D8CC61B}"/>
              </a:ext>
            </a:extLst>
          </p:cNvPr>
          <p:cNvPicPr>
            <a:picLocks noChangeAspect="1"/>
          </p:cNvPicPr>
          <p:nvPr/>
        </p:nvPicPr>
        <p:blipFill>
          <a:blip r:embed="rId3"/>
          <a:stretch>
            <a:fillRect/>
          </a:stretch>
        </p:blipFill>
        <p:spPr>
          <a:xfrm>
            <a:off x="508813" y="1407319"/>
            <a:ext cx="4063187" cy="24422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9"/>
          <p:cNvSpPr txBox="1">
            <a:spLocks noGrp="1"/>
          </p:cNvSpPr>
          <p:nvPr>
            <p:ph type="title"/>
          </p:nvPr>
        </p:nvSpPr>
        <p:spPr>
          <a:xfrm>
            <a:off x="447431" y="288325"/>
            <a:ext cx="651772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dirty="0"/>
              <a:t>Platform Trends</a:t>
            </a:r>
            <a:endParaRPr sz="4200" dirty="0"/>
          </a:p>
        </p:txBody>
      </p:sp>
      <p:sp>
        <p:nvSpPr>
          <p:cNvPr id="4" name="Google Shape;174;p29"/>
          <p:cNvSpPr txBox="1">
            <a:spLocks noGrp="1"/>
          </p:cNvSpPr>
          <p:nvPr>
            <p:ph type="body" idx="1"/>
          </p:nvPr>
        </p:nvSpPr>
        <p:spPr>
          <a:xfrm>
            <a:off x="319134" y="1487012"/>
            <a:ext cx="3999900" cy="27801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1pPr>
            <a:lvl2pPr marL="914400" marR="0" lvl="1" indent="-304800" algn="l" rtl="0">
              <a:lnSpc>
                <a:spcPct val="115000"/>
              </a:lnSpc>
              <a:spcBef>
                <a:spcPts val="1600"/>
              </a:spcBef>
              <a:spcAft>
                <a:spcPts val="0"/>
              </a:spcAft>
              <a:buClr>
                <a:schemeClr val="accent3"/>
              </a:buClr>
              <a:buSzPts val="1200"/>
              <a:buFont typeface="Average"/>
              <a:buChar char="○"/>
              <a:defRPr sz="1200" b="0" i="0" u="none" strike="noStrike" cap="none">
                <a:solidFill>
                  <a:schemeClr val="accent3"/>
                </a:solidFill>
                <a:latin typeface="Average"/>
                <a:ea typeface="Average"/>
                <a:cs typeface="Average"/>
                <a:sym typeface="Average"/>
              </a:defRPr>
            </a:lvl2pPr>
            <a:lvl3pPr marL="1371600" marR="0" lvl="2" indent="-304800" algn="l" rtl="0">
              <a:lnSpc>
                <a:spcPct val="115000"/>
              </a:lnSpc>
              <a:spcBef>
                <a:spcPts val="1600"/>
              </a:spcBef>
              <a:spcAft>
                <a:spcPts val="0"/>
              </a:spcAft>
              <a:buClr>
                <a:schemeClr val="accent3"/>
              </a:buClr>
              <a:buSzPts val="1200"/>
              <a:buFont typeface="Average"/>
              <a:buChar char="■"/>
              <a:defRPr sz="1200" b="0" i="0" u="none" strike="noStrike" cap="none">
                <a:solidFill>
                  <a:schemeClr val="accent3"/>
                </a:solidFill>
                <a:latin typeface="Average"/>
                <a:ea typeface="Average"/>
                <a:cs typeface="Average"/>
                <a:sym typeface="Average"/>
              </a:defRPr>
            </a:lvl3pPr>
            <a:lvl4pPr marL="1828800" marR="0" lvl="3" indent="-304800" algn="l" rtl="0">
              <a:lnSpc>
                <a:spcPct val="115000"/>
              </a:lnSpc>
              <a:spcBef>
                <a:spcPts val="1600"/>
              </a:spcBef>
              <a:spcAft>
                <a:spcPts val="0"/>
              </a:spcAft>
              <a:buClr>
                <a:schemeClr val="accent3"/>
              </a:buClr>
              <a:buSzPts val="1200"/>
              <a:buFont typeface="Average"/>
              <a:buChar char="●"/>
              <a:defRPr sz="1200" b="0" i="0" u="none" strike="noStrike" cap="none">
                <a:solidFill>
                  <a:schemeClr val="accent3"/>
                </a:solidFill>
                <a:latin typeface="Average"/>
                <a:ea typeface="Average"/>
                <a:cs typeface="Average"/>
                <a:sym typeface="Average"/>
              </a:defRPr>
            </a:lvl4pPr>
            <a:lvl5pPr marL="2286000" marR="0" lvl="4" indent="-304800" algn="l" rtl="0">
              <a:lnSpc>
                <a:spcPct val="115000"/>
              </a:lnSpc>
              <a:spcBef>
                <a:spcPts val="1600"/>
              </a:spcBef>
              <a:spcAft>
                <a:spcPts val="0"/>
              </a:spcAft>
              <a:buClr>
                <a:schemeClr val="accent3"/>
              </a:buClr>
              <a:buSzPts val="1200"/>
              <a:buFont typeface="Average"/>
              <a:buChar char="○"/>
              <a:defRPr sz="1200" b="0" i="0" u="none" strike="noStrike" cap="none">
                <a:solidFill>
                  <a:schemeClr val="accent3"/>
                </a:solidFill>
                <a:latin typeface="Average"/>
                <a:ea typeface="Average"/>
                <a:cs typeface="Average"/>
                <a:sym typeface="Average"/>
              </a:defRPr>
            </a:lvl5pPr>
            <a:lvl6pPr marL="2743200" marR="0" lvl="5" indent="-304800" algn="l" rtl="0">
              <a:lnSpc>
                <a:spcPct val="115000"/>
              </a:lnSpc>
              <a:spcBef>
                <a:spcPts val="1600"/>
              </a:spcBef>
              <a:spcAft>
                <a:spcPts val="0"/>
              </a:spcAft>
              <a:buClr>
                <a:schemeClr val="accent3"/>
              </a:buClr>
              <a:buSzPts val="1200"/>
              <a:buFont typeface="Average"/>
              <a:buChar char="■"/>
              <a:defRPr sz="1200" b="0" i="0" u="none" strike="noStrike" cap="none">
                <a:solidFill>
                  <a:schemeClr val="accent3"/>
                </a:solidFill>
                <a:latin typeface="Average"/>
                <a:ea typeface="Average"/>
                <a:cs typeface="Average"/>
                <a:sym typeface="Average"/>
              </a:defRPr>
            </a:lvl6pPr>
            <a:lvl7pPr marL="3200400" marR="0" lvl="6" indent="-304800" algn="l" rtl="0">
              <a:lnSpc>
                <a:spcPct val="115000"/>
              </a:lnSpc>
              <a:spcBef>
                <a:spcPts val="1600"/>
              </a:spcBef>
              <a:spcAft>
                <a:spcPts val="0"/>
              </a:spcAft>
              <a:buClr>
                <a:schemeClr val="accent3"/>
              </a:buClr>
              <a:buSzPts val="1200"/>
              <a:buFont typeface="Average"/>
              <a:buChar char="●"/>
              <a:defRPr sz="1200" b="0" i="0" u="none" strike="noStrike" cap="none">
                <a:solidFill>
                  <a:schemeClr val="accent3"/>
                </a:solidFill>
                <a:latin typeface="Average"/>
                <a:ea typeface="Average"/>
                <a:cs typeface="Average"/>
                <a:sym typeface="Average"/>
              </a:defRPr>
            </a:lvl7pPr>
            <a:lvl8pPr marL="3657600" marR="0" lvl="7" indent="-304800" algn="l" rtl="0">
              <a:lnSpc>
                <a:spcPct val="115000"/>
              </a:lnSpc>
              <a:spcBef>
                <a:spcPts val="1600"/>
              </a:spcBef>
              <a:spcAft>
                <a:spcPts val="0"/>
              </a:spcAft>
              <a:buClr>
                <a:schemeClr val="accent3"/>
              </a:buClr>
              <a:buSzPts val="1200"/>
              <a:buFont typeface="Average"/>
              <a:buChar char="○"/>
              <a:defRPr sz="1200" b="0" i="0" u="none" strike="noStrike" cap="none">
                <a:solidFill>
                  <a:schemeClr val="accent3"/>
                </a:solidFill>
                <a:latin typeface="Average"/>
                <a:ea typeface="Average"/>
                <a:cs typeface="Average"/>
                <a:sym typeface="Average"/>
              </a:defRPr>
            </a:lvl8pPr>
            <a:lvl9pPr marL="4114800" marR="0" lvl="8" indent="-304800" algn="l" rtl="0">
              <a:lnSpc>
                <a:spcPct val="115000"/>
              </a:lnSpc>
              <a:spcBef>
                <a:spcPts val="1600"/>
              </a:spcBef>
              <a:spcAft>
                <a:spcPts val="1600"/>
              </a:spcAft>
              <a:buClr>
                <a:schemeClr val="accent3"/>
              </a:buClr>
              <a:buSzPts val="1200"/>
              <a:buFont typeface="Average"/>
              <a:buChar char="■"/>
              <a:defRPr sz="1200" b="0" i="0" u="none" strike="noStrike" cap="none">
                <a:solidFill>
                  <a:schemeClr val="accent3"/>
                </a:solidFill>
                <a:latin typeface="Average"/>
                <a:ea typeface="Average"/>
                <a:cs typeface="Average"/>
                <a:sym typeface="Average"/>
              </a:defRPr>
            </a:lvl9pPr>
          </a:lstStyle>
          <a:p>
            <a:pPr marL="0" indent="0">
              <a:buFont typeface="Average"/>
              <a:buNone/>
            </a:pPr>
            <a:r>
              <a:rPr lang="en-US" sz="1200" b="1" dirty="0">
                <a:solidFill>
                  <a:schemeClr val="dk1"/>
                </a:solidFill>
                <a:latin typeface="Oswald"/>
                <a:ea typeface="Oswald"/>
                <a:cs typeface="Oswald"/>
                <a:sym typeface="Oswald"/>
              </a:rPr>
              <a:t>Japan</a:t>
            </a:r>
          </a:p>
          <a:p>
            <a:pPr indent="-330200">
              <a:spcBef>
                <a:spcPts val="1600"/>
              </a:spcBef>
              <a:buClr>
                <a:schemeClr val="dk1"/>
              </a:buClr>
              <a:buSzPts val="1600"/>
              <a:buFont typeface="Oswald"/>
              <a:buChar char="●"/>
            </a:pPr>
            <a:r>
              <a:rPr lang="en-US" sz="1200" dirty="0">
                <a:solidFill>
                  <a:schemeClr val="dk1"/>
                </a:solidFill>
                <a:latin typeface="Oswald"/>
                <a:ea typeface="Oswald"/>
                <a:cs typeface="Oswald"/>
                <a:sym typeface="Oswald"/>
              </a:rPr>
              <a:t>Nintendo </a:t>
            </a:r>
            <a:r>
              <a:rPr lang="en-US" sz="1200" dirty="0" err="1">
                <a:solidFill>
                  <a:schemeClr val="dk1"/>
                </a:solidFill>
                <a:latin typeface="Oswald"/>
                <a:ea typeface="Oswald"/>
                <a:cs typeface="Oswald"/>
                <a:sym typeface="Oswald"/>
              </a:rPr>
              <a:t>WiiU</a:t>
            </a:r>
            <a:r>
              <a:rPr lang="en-US" sz="1200" dirty="0">
                <a:solidFill>
                  <a:schemeClr val="dk1"/>
                </a:solidFill>
                <a:latin typeface="Oswald"/>
                <a:ea typeface="Oswald"/>
                <a:cs typeface="Oswald"/>
                <a:sym typeface="Oswald"/>
              </a:rPr>
              <a:t> is a key platform, with Splatoon as one of the top-selling games.</a:t>
            </a:r>
          </a:p>
          <a:p>
            <a:pPr indent="-330200">
              <a:buClr>
                <a:schemeClr val="dk1"/>
              </a:buClr>
              <a:buSzPts val="1600"/>
              <a:buFont typeface="Oswald"/>
              <a:buChar char="●"/>
            </a:pPr>
            <a:r>
              <a:rPr lang="en-US" sz="1200" dirty="0">
                <a:solidFill>
                  <a:schemeClr val="dk1"/>
                </a:solidFill>
                <a:latin typeface="Oswald"/>
                <a:ea typeface="Oswald"/>
                <a:cs typeface="Oswald"/>
                <a:sym typeface="Oswald"/>
              </a:rPr>
              <a:t>3DS and PS4 are popular platforms for other  game genres.</a:t>
            </a:r>
          </a:p>
          <a:p>
            <a:pPr indent="-330200">
              <a:buClr>
                <a:schemeClr val="dk1"/>
              </a:buClr>
              <a:buSzPts val="1600"/>
              <a:buFont typeface="Oswald"/>
              <a:buChar char="●"/>
            </a:pPr>
            <a:r>
              <a:rPr lang="en-US" sz="1200" dirty="0">
                <a:solidFill>
                  <a:schemeClr val="dk1"/>
                </a:solidFill>
                <a:latin typeface="Oswald"/>
                <a:ea typeface="Oswald"/>
                <a:cs typeface="Oswald"/>
                <a:sym typeface="Oswald"/>
              </a:rPr>
              <a:t>The unique platform preferences in Japan highlight the need for tailored marketing strategies.</a:t>
            </a:r>
          </a:p>
        </p:txBody>
      </p:sp>
      <p:pic>
        <p:nvPicPr>
          <p:cNvPr id="11" name="Picture 10">
            <a:extLst>
              <a:ext uri="{FF2B5EF4-FFF2-40B4-BE49-F238E27FC236}">
                <a16:creationId xmlns:a16="http://schemas.microsoft.com/office/drawing/2014/main" id="{9F318F9A-C0BD-9B7F-E941-D88A5DC6D001}"/>
              </a:ext>
            </a:extLst>
          </p:cNvPr>
          <p:cNvPicPr>
            <a:picLocks noChangeAspect="1"/>
          </p:cNvPicPr>
          <p:nvPr/>
        </p:nvPicPr>
        <p:blipFill>
          <a:blip r:embed="rId3"/>
          <a:stretch>
            <a:fillRect/>
          </a:stretch>
        </p:blipFill>
        <p:spPr>
          <a:xfrm>
            <a:off x="4646344" y="1322522"/>
            <a:ext cx="3932450" cy="236365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0"/>
          <p:cNvSpPr txBox="1">
            <a:spLocks noGrp="1"/>
          </p:cNvSpPr>
          <p:nvPr>
            <p:ph type="title" idx="4294967295"/>
          </p:nvPr>
        </p:nvSpPr>
        <p:spPr>
          <a:xfrm>
            <a:off x="0" y="66675"/>
            <a:ext cx="6696075" cy="573088"/>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4200" dirty="0"/>
              <a:t>Future Outlook</a:t>
            </a:r>
            <a:endParaRPr sz="4200" dirty="0"/>
          </a:p>
        </p:txBody>
      </p:sp>
      <p:sp>
        <p:nvSpPr>
          <p:cNvPr id="181" name="Google Shape;181;p30"/>
          <p:cNvSpPr txBox="1">
            <a:spLocks noGrp="1"/>
          </p:cNvSpPr>
          <p:nvPr>
            <p:ph type="body" idx="4294967295"/>
          </p:nvPr>
        </p:nvSpPr>
        <p:spPr>
          <a:xfrm>
            <a:off x="0" y="688975"/>
            <a:ext cx="2395538" cy="3157538"/>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US" b="1" cap="none" dirty="0">
                <a:solidFill>
                  <a:schemeClr val="dk1"/>
                </a:solidFill>
                <a:latin typeface="Oswald"/>
                <a:ea typeface="Oswald"/>
                <a:cs typeface="Oswald"/>
                <a:sym typeface="Oswald"/>
              </a:rPr>
              <a:t>North </a:t>
            </a:r>
            <a:r>
              <a:rPr lang="en-US" b="1" cap="none" dirty="0" err="1">
                <a:solidFill>
                  <a:schemeClr val="dk1"/>
                </a:solidFill>
                <a:latin typeface="Oswald"/>
                <a:ea typeface="Oswald"/>
                <a:cs typeface="Oswald"/>
                <a:sym typeface="Oswald"/>
              </a:rPr>
              <a:t>america</a:t>
            </a:r>
            <a:endParaRPr lang="en-US" b="1" cap="none" dirty="0">
              <a:solidFill>
                <a:schemeClr val="dk1"/>
              </a:solidFill>
              <a:latin typeface="Oswald"/>
              <a:ea typeface="Oswald"/>
              <a:cs typeface="Oswald"/>
              <a:sym typeface="Oswald"/>
            </a:endParaRPr>
          </a:p>
          <a:p>
            <a:pPr marL="457200" lvl="0" indent="-317500" algn="just" rtl="0">
              <a:spcBef>
                <a:spcPts val="1200"/>
              </a:spcBef>
              <a:spcAft>
                <a:spcPts val="0"/>
              </a:spcAft>
              <a:buClr>
                <a:schemeClr val="dk1"/>
              </a:buClr>
              <a:buSzPts val="1400"/>
              <a:buFont typeface="Oswald"/>
              <a:buChar char="●"/>
            </a:pPr>
            <a:r>
              <a:rPr lang="en-US" sz="1100" cap="none" dirty="0">
                <a:solidFill>
                  <a:schemeClr val="dk1"/>
                </a:solidFill>
                <a:latin typeface="Oswald"/>
                <a:ea typeface="Oswald"/>
                <a:cs typeface="Oswald"/>
                <a:sym typeface="Oswald"/>
              </a:rPr>
              <a:t>The market needs revitalization through targeted investments.</a:t>
            </a:r>
          </a:p>
          <a:p>
            <a:pPr marL="457200" lvl="0" indent="-317500" algn="just" rtl="0">
              <a:spcBef>
                <a:spcPts val="0"/>
              </a:spcBef>
              <a:spcAft>
                <a:spcPts val="0"/>
              </a:spcAft>
              <a:buClr>
                <a:schemeClr val="dk1"/>
              </a:buClr>
              <a:buSzPts val="1400"/>
              <a:buFont typeface="Oswald"/>
              <a:buChar char="●"/>
            </a:pPr>
            <a:r>
              <a:rPr lang="en-US" sz="1100" cap="none" dirty="0">
                <a:solidFill>
                  <a:schemeClr val="dk1"/>
                </a:solidFill>
                <a:latin typeface="Oswald"/>
                <a:ea typeface="Oswald"/>
                <a:cs typeface="Oswald"/>
                <a:sym typeface="Oswald"/>
              </a:rPr>
              <a:t>Focus on underexplored genres or platforms to stimulate growth.</a:t>
            </a:r>
            <a:endParaRPr lang="en-US" sz="1100" b="1" cap="none" dirty="0">
              <a:solidFill>
                <a:schemeClr val="dk1"/>
              </a:solidFill>
              <a:latin typeface="Oswald"/>
              <a:ea typeface="Oswald"/>
              <a:cs typeface="Oswald"/>
              <a:sym typeface="Oswald"/>
            </a:endParaRPr>
          </a:p>
          <a:p>
            <a:pPr marL="457200" lvl="0" indent="-317500" algn="just" rtl="0">
              <a:lnSpc>
                <a:spcPct val="137500"/>
              </a:lnSpc>
              <a:spcBef>
                <a:spcPts val="0"/>
              </a:spcBef>
              <a:spcAft>
                <a:spcPts val="0"/>
              </a:spcAft>
              <a:buClr>
                <a:schemeClr val="dk1"/>
              </a:buClr>
              <a:buSzPts val="1400"/>
              <a:buFont typeface="Oswald"/>
              <a:buChar char="●"/>
            </a:pPr>
            <a:r>
              <a:rPr lang="en-US" sz="1100" cap="none" dirty="0">
                <a:solidFill>
                  <a:schemeClr val="dk1"/>
                </a:solidFill>
                <a:latin typeface="Oswald"/>
                <a:ea typeface="Oswald"/>
                <a:cs typeface="Oswald"/>
                <a:sym typeface="Oswald"/>
              </a:rPr>
              <a:t>Games like call of duty and </a:t>
            </a:r>
            <a:r>
              <a:rPr lang="en-US" sz="1100" cap="none" dirty="0" err="1">
                <a:solidFill>
                  <a:schemeClr val="dk1"/>
                </a:solidFill>
                <a:latin typeface="Oswald"/>
                <a:ea typeface="Oswald"/>
                <a:cs typeface="Oswald"/>
                <a:sym typeface="Oswald"/>
              </a:rPr>
              <a:t>fifa</a:t>
            </a:r>
            <a:r>
              <a:rPr lang="en-US" sz="1100" cap="none" dirty="0">
                <a:solidFill>
                  <a:schemeClr val="dk1"/>
                </a:solidFill>
                <a:latin typeface="Oswald"/>
                <a:ea typeface="Oswald"/>
                <a:cs typeface="Oswald"/>
                <a:sym typeface="Oswald"/>
              </a:rPr>
              <a:t> have been localized to fit different cultural contexts, ensuring their popularity across various regions. </a:t>
            </a:r>
          </a:p>
          <a:p>
            <a:pPr marL="457200" lvl="0" indent="-317500" algn="just" rtl="0">
              <a:lnSpc>
                <a:spcPct val="137500"/>
              </a:lnSpc>
              <a:spcBef>
                <a:spcPts val="0"/>
              </a:spcBef>
              <a:spcAft>
                <a:spcPts val="0"/>
              </a:spcAft>
              <a:buClr>
                <a:schemeClr val="dk1"/>
              </a:buClr>
              <a:buSzPts val="1400"/>
              <a:buFont typeface="Oswald"/>
              <a:buChar char="●"/>
            </a:pPr>
            <a:r>
              <a:rPr lang="en-US" sz="1100" cap="none" dirty="0">
                <a:solidFill>
                  <a:schemeClr val="dk1"/>
                </a:solidFill>
                <a:latin typeface="Oswald"/>
                <a:ea typeface="Oswald"/>
                <a:cs typeface="Oswald"/>
                <a:sym typeface="Oswald"/>
              </a:rPr>
              <a:t>Emphasis on action and shooter games.</a:t>
            </a:r>
          </a:p>
        </p:txBody>
      </p:sp>
      <p:pic>
        <p:nvPicPr>
          <p:cNvPr id="182" name="Google Shape;182;p30"/>
          <p:cNvPicPr preferRelativeResize="0"/>
          <p:nvPr/>
        </p:nvPicPr>
        <p:blipFill>
          <a:blip r:embed="rId3">
            <a:alphaModFix/>
          </a:blip>
          <a:stretch>
            <a:fillRect/>
          </a:stretch>
        </p:blipFill>
        <p:spPr>
          <a:xfrm>
            <a:off x="287138" y="3569520"/>
            <a:ext cx="2108400" cy="1141306"/>
          </a:xfrm>
          <a:prstGeom prst="rect">
            <a:avLst/>
          </a:prstGeom>
          <a:noFill/>
          <a:ln>
            <a:noFill/>
          </a:ln>
        </p:spPr>
      </p:pic>
      <p:sp>
        <p:nvSpPr>
          <p:cNvPr id="188" name="Google Shape;188;p31"/>
          <p:cNvSpPr txBox="1">
            <a:spLocks/>
          </p:cNvSpPr>
          <p:nvPr/>
        </p:nvSpPr>
        <p:spPr>
          <a:xfrm>
            <a:off x="3136942" y="646773"/>
            <a:ext cx="2478045" cy="28196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3"/>
              </a:buClr>
              <a:buSzPts val="1800"/>
              <a:buFont typeface="Average"/>
              <a:buChar char="●"/>
              <a:defRPr sz="1800" b="0" i="0" u="none" strike="noStrike" cap="none">
                <a:solidFill>
                  <a:schemeClr val="accent3"/>
                </a:solidFill>
                <a:latin typeface="Average"/>
                <a:ea typeface="Average"/>
                <a:cs typeface="Average"/>
                <a:sym typeface="Average"/>
              </a:defRPr>
            </a:lvl1pPr>
            <a:lvl2pPr marL="914400" marR="0" lvl="1"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2pPr>
            <a:lvl3pPr marL="1371600" marR="0" lvl="2"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3pPr>
            <a:lvl4pPr marL="1828800" marR="0" lvl="3"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4pPr>
            <a:lvl5pPr marL="2286000" marR="0" lvl="4"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5pPr>
            <a:lvl6pPr marL="2743200" marR="0" lvl="5"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6pPr>
            <a:lvl7pPr marL="3200400" marR="0" lvl="6"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7pPr>
            <a:lvl8pPr marL="3657600" marR="0" lvl="7"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8pPr>
            <a:lvl9pPr marL="4114800" marR="0" lvl="8" indent="-317500" algn="l" rtl="0">
              <a:lnSpc>
                <a:spcPct val="115000"/>
              </a:lnSpc>
              <a:spcBef>
                <a:spcPts val="1600"/>
              </a:spcBef>
              <a:spcAft>
                <a:spcPts val="160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9pPr>
          </a:lstStyle>
          <a:p>
            <a:pPr marL="0" indent="0" algn="just">
              <a:spcBef>
                <a:spcPts val="1200"/>
              </a:spcBef>
              <a:buFont typeface="Average"/>
              <a:buNone/>
            </a:pPr>
            <a:r>
              <a:rPr lang="en-US" b="1" dirty="0">
                <a:solidFill>
                  <a:schemeClr val="dk1"/>
                </a:solidFill>
                <a:latin typeface="Oswald"/>
                <a:ea typeface="Oswald"/>
                <a:cs typeface="Oswald"/>
                <a:sym typeface="Oswald"/>
              </a:rPr>
              <a:t>Europe</a:t>
            </a:r>
          </a:p>
          <a:p>
            <a:pPr indent="-317500" algn="just">
              <a:spcBef>
                <a:spcPts val="1200"/>
              </a:spcBef>
              <a:buClr>
                <a:schemeClr val="dk1"/>
              </a:buClr>
              <a:buSzPts val="1400"/>
              <a:buFont typeface="Oswald"/>
              <a:buChar char="●"/>
            </a:pPr>
            <a:r>
              <a:rPr lang="en-US" sz="1100" dirty="0">
                <a:solidFill>
                  <a:schemeClr val="dk1"/>
                </a:solidFill>
                <a:latin typeface="Oswald"/>
                <a:ea typeface="Oswald"/>
                <a:cs typeface="Oswald"/>
                <a:sym typeface="Oswald"/>
              </a:rPr>
              <a:t>Represents a growing market with expansion opportunities.</a:t>
            </a:r>
          </a:p>
          <a:p>
            <a:pPr indent="-317500" algn="just">
              <a:buClr>
                <a:schemeClr val="dk1"/>
              </a:buClr>
              <a:buSzPts val="1400"/>
              <a:buFont typeface="Oswald"/>
              <a:buChar char="●"/>
            </a:pPr>
            <a:r>
              <a:rPr lang="en-US" sz="1100" dirty="0">
                <a:solidFill>
                  <a:schemeClr val="dk1"/>
                </a:solidFill>
                <a:latin typeface="Oswald"/>
                <a:ea typeface="Oswald"/>
                <a:cs typeface="Oswald"/>
                <a:sym typeface="Oswald"/>
              </a:rPr>
              <a:t>Increased consumer base and investments in local studios are key drivers.</a:t>
            </a:r>
          </a:p>
          <a:p>
            <a:pPr marR="63500" indent="-317500" algn="just">
              <a:lnSpc>
                <a:spcPct val="137500"/>
              </a:lnSpc>
              <a:buClr>
                <a:schemeClr val="dk1"/>
              </a:buClr>
              <a:buSzPts val="1400"/>
              <a:buFont typeface="Oswald"/>
              <a:buChar char="●"/>
            </a:pPr>
            <a:r>
              <a:rPr lang="en-US" sz="1100" dirty="0">
                <a:solidFill>
                  <a:schemeClr val="dk1"/>
                </a:solidFill>
                <a:latin typeface="Oswald"/>
                <a:ea typeface="Oswald"/>
                <a:cs typeface="Oswald"/>
                <a:sym typeface="Oswald"/>
              </a:rPr>
              <a:t>The video game industry employs over 90,000 people in Europe, and creates new opportunities for writers, designers, game developers, and music producers. </a:t>
            </a:r>
          </a:p>
          <a:p>
            <a:pPr indent="-317500" algn="just">
              <a:lnSpc>
                <a:spcPct val="137500"/>
              </a:lnSpc>
              <a:buClr>
                <a:schemeClr val="dk1"/>
              </a:buClr>
              <a:buSzPts val="1400"/>
              <a:buFont typeface="Oswald"/>
              <a:buChar char="●"/>
            </a:pPr>
            <a:r>
              <a:rPr lang="en-US" sz="1100" dirty="0">
                <a:solidFill>
                  <a:schemeClr val="dk1"/>
                </a:solidFill>
                <a:latin typeface="Oswald"/>
                <a:ea typeface="Oswald"/>
                <a:cs typeface="Oswald"/>
                <a:sym typeface="Oswald"/>
              </a:rPr>
              <a:t>Emphasis in Action Games</a:t>
            </a:r>
          </a:p>
          <a:p>
            <a:pPr marL="0" indent="0">
              <a:spcAft>
                <a:spcPts val="1200"/>
              </a:spcAft>
              <a:buFont typeface="Average"/>
              <a:buNone/>
            </a:pPr>
            <a:endParaRPr lang="en-US" sz="1100" dirty="0">
              <a:solidFill>
                <a:schemeClr val="dk1"/>
              </a:solidFill>
              <a:latin typeface="Oswald"/>
              <a:ea typeface="Oswald"/>
              <a:cs typeface="Oswald"/>
              <a:sym typeface="Oswald"/>
            </a:endParaRPr>
          </a:p>
        </p:txBody>
      </p:sp>
      <p:pic>
        <p:nvPicPr>
          <p:cNvPr id="190" name="Google Shape;190;p31"/>
          <p:cNvPicPr preferRelativeResize="0"/>
          <p:nvPr/>
        </p:nvPicPr>
        <p:blipFill>
          <a:blip r:embed="rId4">
            <a:alphaModFix/>
          </a:blip>
          <a:stretch>
            <a:fillRect/>
          </a:stretch>
        </p:blipFill>
        <p:spPr>
          <a:xfrm>
            <a:off x="3427184" y="3778625"/>
            <a:ext cx="2283471" cy="1141306"/>
          </a:xfrm>
          <a:prstGeom prst="rect">
            <a:avLst/>
          </a:prstGeom>
          <a:noFill/>
          <a:ln>
            <a:noFill/>
          </a:ln>
        </p:spPr>
      </p:pic>
      <p:sp>
        <p:nvSpPr>
          <p:cNvPr id="196" name="Google Shape;196;p32"/>
          <p:cNvSpPr txBox="1">
            <a:spLocks/>
          </p:cNvSpPr>
          <p:nvPr/>
        </p:nvSpPr>
        <p:spPr>
          <a:xfrm>
            <a:off x="6086471" y="636938"/>
            <a:ext cx="2239028" cy="2441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3"/>
              </a:buClr>
              <a:buSzPts val="1800"/>
              <a:buFont typeface="Average"/>
              <a:buChar char="●"/>
              <a:defRPr sz="1800" b="0" i="0" u="none" strike="noStrike" cap="none">
                <a:solidFill>
                  <a:schemeClr val="accent3"/>
                </a:solidFill>
                <a:latin typeface="Average"/>
                <a:ea typeface="Average"/>
                <a:cs typeface="Average"/>
                <a:sym typeface="Average"/>
              </a:defRPr>
            </a:lvl1pPr>
            <a:lvl2pPr marL="914400" marR="0" lvl="1"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2pPr>
            <a:lvl3pPr marL="1371600" marR="0" lvl="2"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3pPr>
            <a:lvl4pPr marL="1828800" marR="0" lvl="3"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4pPr>
            <a:lvl5pPr marL="2286000" marR="0" lvl="4"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5pPr>
            <a:lvl6pPr marL="2743200" marR="0" lvl="5"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6pPr>
            <a:lvl7pPr marL="3200400" marR="0" lvl="6"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7pPr>
            <a:lvl8pPr marL="3657600" marR="0" lvl="7" indent="-317500" algn="l" rtl="0">
              <a:lnSpc>
                <a:spcPct val="115000"/>
              </a:lnSpc>
              <a:spcBef>
                <a:spcPts val="160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8pPr>
            <a:lvl9pPr marL="4114800" marR="0" lvl="8" indent="-317500" algn="l" rtl="0">
              <a:lnSpc>
                <a:spcPct val="115000"/>
              </a:lnSpc>
              <a:spcBef>
                <a:spcPts val="1600"/>
              </a:spcBef>
              <a:spcAft>
                <a:spcPts val="160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9pPr>
          </a:lstStyle>
          <a:p>
            <a:pPr marL="0" indent="0">
              <a:spcBef>
                <a:spcPts val="1200"/>
              </a:spcBef>
              <a:buFont typeface="Average"/>
              <a:buNone/>
            </a:pPr>
            <a:r>
              <a:rPr lang="en-US" b="1" dirty="0">
                <a:solidFill>
                  <a:schemeClr val="dk1"/>
                </a:solidFill>
                <a:latin typeface="Oswald"/>
                <a:ea typeface="Oswald"/>
                <a:cs typeface="Oswald"/>
                <a:sym typeface="Oswald"/>
              </a:rPr>
              <a:t>Japan</a:t>
            </a:r>
          </a:p>
          <a:p>
            <a:pPr indent="-317500" algn="just">
              <a:spcBef>
                <a:spcPts val="1200"/>
              </a:spcBef>
              <a:buClr>
                <a:schemeClr val="dk1"/>
              </a:buClr>
              <a:buSzPts val="1400"/>
              <a:buFont typeface="Oswald"/>
              <a:buChar char="●"/>
            </a:pPr>
            <a:r>
              <a:rPr lang="en-US" sz="1100" dirty="0">
                <a:solidFill>
                  <a:schemeClr val="dk1"/>
                </a:solidFill>
                <a:latin typeface="Oswald"/>
                <a:ea typeface="Oswald"/>
                <a:cs typeface="Oswald"/>
                <a:sym typeface="Oswald"/>
              </a:rPr>
              <a:t>Innovative game designs, including VR and AR, could capture consumer interest.</a:t>
            </a:r>
          </a:p>
          <a:p>
            <a:pPr marR="63500" indent="-317500" algn="just">
              <a:lnSpc>
                <a:spcPct val="137500"/>
              </a:lnSpc>
              <a:buClr>
                <a:schemeClr val="dk1"/>
              </a:buClr>
              <a:buSzPts val="1400"/>
              <a:buFont typeface="Oswald"/>
              <a:buChar char="●"/>
            </a:pPr>
            <a:r>
              <a:rPr lang="en-US" sz="1100" dirty="0">
                <a:solidFill>
                  <a:schemeClr val="dk1"/>
                </a:solidFill>
                <a:latin typeface="Oswald"/>
                <a:ea typeface="Oswald"/>
                <a:cs typeface="Oswald"/>
                <a:sym typeface="Oswald"/>
              </a:rPr>
              <a:t>Mobile gaming is expected to grow in Japan, driven by new game designs and monetization strategies. </a:t>
            </a:r>
          </a:p>
          <a:p>
            <a:pPr indent="-317500" algn="just">
              <a:lnSpc>
                <a:spcPct val="137500"/>
              </a:lnSpc>
              <a:buClr>
                <a:schemeClr val="dk1"/>
              </a:buClr>
              <a:buSzPts val="1400"/>
              <a:buFont typeface="Oswald"/>
              <a:buChar char="●"/>
            </a:pPr>
            <a:r>
              <a:rPr lang="en-US" sz="1100" dirty="0">
                <a:solidFill>
                  <a:schemeClr val="dk1"/>
                </a:solidFill>
                <a:latin typeface="Oswald"/>
                <a:ea typeface="Oswald"/>
                <a:cs typeface="Oswald"/>
                <a:sym typeface="Oswald"/>
              </a:rPr>
              <a:t>Emphasis on Role-Playing Games (RPGs) </a:t>
            </a:r>
          </a:p>
          <a:p>
            <a:pPr marL="0" marR="63500" indent="0">
              <a:lnSpc>
                <a:spcPct val="137500"/>
              </a:lnSpc>
              <a:spcBef>
                <a:spcPts val="800"/>
              </a:spcBef>
              <a:spcAft>
                <a:spcPts val="2100"/>
              </a:spcAft>
              <a:buFont typeface="Average"/>
              <a:buNone/>
            </a:pPr>
            <a:endParaRPr lang="en-US" sz="1100" dirty="0">
              <a:solidFill>
                <a:schemeClr val="dk1"/>
              </a:solidFill>
              <a:latin typeface="Oswald"/>
              <a:ea typeface="Oswald"/>
              <a:cs typeface="Oswald"/>
              <a:sym typeface="Oswald"/>
            </a:endParaRPr>
          </a:p>
        </p:txBody>
      </p:sp>
      <p:pic>
        <p:nvPicPr>
          <p:cNvPr id="197" name="Google Shape;197;p32"/>
          <p:cNvPicPr preferRelativeResize="0"/>
          <p:nvPr/>
        </p:nvPicPr>
        <p:blipFill>
          <a:blip r:embed="rId5">
            <a:alphaModFix/>
          </a:blip>
          <a:stretch>
            <a:fillRect/>
          </a:stretch>
        </p:blipFill>
        <p:spPr>
          <a:xfrm>
            <a:off x="6414239" y="3466391"/>
            <a:ext cx="2100195" cy="114130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3"/>
          <p:cNvSpPr txBox="1">
            <a:spLocks noGrp="1"/>
          </p:cNvSpPr>
          <p:nvPr>
            <p:ph type="title"/>
          </p:nvPr>
        </p:nvSpPr>
        <p:spPr>
          <a:xfrm>
            <a:off x="268838" y="130700"/>
            <a:ext cx="720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dirty="0"/>
              <a:t>Recommendations</a:t>
            </a:r>
            <a:endParaRPr sz="4200" dirty="0"/>
          </a:p>
        </p:txBody>
      </p:sp>
      <p:sp>
        <p:nvSpPr>
          <p:cNvPr id="206" name="Google Shape;206;p33"/>
          <p:cNvSpPr txBox="1">
            <a:spLocks noGrp="1"/>
          </p:cNvSpPr>
          <p:nvPr>
            <p:ph type="body" idx="4294967295"/>
          </p:nvPr>
        </p:nvSpPr>
        <p:spPr>
          <a:xfrm>
            <a:off x="268837" y="1001423"/>
            <a:ext cx="2422525" cy="798513"/>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dirty="0">
                <a:solidFill>
                  <a:schemeClr val="accent1"/>
                </a:solidFill>
                <a:latin typeface="Oswald"/>
                <a:ea typeface="Oswald"/>
                <a:cs typeface="Oswald"/>
                <a:sym typeface="Oswald"/>
              </a:rPr>
              <a:t>Global Focus</a:t>
            </a:r>
            <a:endParaRPr sz="2000" dirty="0">
              <a:solidFill>
                <a:schemeClr val="accent1"/>
              </a:solidFill>
              <a:latin typeface="Oswald"/>
              <a:ea typeface="Oswald"/>
              <a:cs typeface="Oswald"/>
              <a:sym typeface="Oswald"/>
            </a:endParaRPr>
          </a:p>
        </p:txBody>
      </p:sp>
      <p:sp>
        <p:nvSpPr>
          <p:cNvPr id="207" name="Google Shape;207;p33"/>
          <p:cNvSpPr txBox="1">
            <a:spLocks noGrp="1"/>
          </p:cNvSpPr>
          <p:nvPr>
            <p:ph type="body" idx="4294967295"/>
          </p:nvPr>
        </p:nvSpPr>
        <p:spPr>
          <a:xfrm>
            <a:off x="2422525" y="1157947"/>
            <a:ext cx="5911153" cy="798513"/>
          </a:xfrm>
          <a:prstGeom prst="rect">
            <a:avLst/>
          </a:prstGeom>
        </p:spPr>
        <p:txBody>
          <a:bodyPr spcFirstLastPara="1" wrap="square" lIns="91425" tIns="91425" rIns="91425" bIns="91425" anchor="ctr" anchorCtr="0">
            <a:noAutofit/>
          </a:bodyPr>
          <a:lstStyle/>
          <a:p>
            <a:pPr marL="457200" lvl="0" indent="-298450" algn="l" rtl="0">
              <a:spcBef>
                <a:spcPts val="0"/>
              </a:spcBef>
              <a:spcAft>
                <a:spcPts val="0"/>
              </a:spcAft>
              <a:buClr>
                <a:srgbClr val="000000"/>
              </a:buClr>
              <a:buSzPts val="1100"/>
              <a:buFont typeface="Oswald"/>
              <a:buChar char="●"/>
            </a:pPr>
            <a:r>
              <a:rPr lang="en-US" sz="1200" dirty="0">
                <a:latin typeface="Oswald"/>
                <a:ea typeface="Oswald"/>
                <a:cs typeface="Oswald"/>
                <a:sym typeface="Oswald"/>
              </a:rPr>
              <a:t>F</a:t>
            </a:r>
            <a:r>
              <a:rPr lang="en" sz="1200" cap="none" dirty="0">
                <a:latin typeface="Oswald"/>
                <a:ea typeface="Oswald"/>
                <a:cs typeface="Oswald"/>
                <a:sym typeface="Oswald"/>
              </a:rPr>
              <a:t>rom 2017 – 2019 is expected that the global participation of european sales keep increasing by 3% at the end of the period. North american sales are decreasing </a:t>
            </a:r>
            <a:r>
              <a:rPr lang="en-US" sz="1200" cap="none" dirty="0">
                <a:latin typeface="Oswald"/>
                <a:ea typeface="Oswald"/>
                <a:cs typeface="Oswald"/>
                <a:sym typeface="Oswald"/>
              </a:rPr>
              <a:t>by 1% yearly, so it’s crucial to focus marketing campaigns on action and shooter games, diversifying the presence in NA, EU, and JP while developing a game that is adaptable to the </a:t>
            </a:r>
            <a:r>
              <a:rPr lang="en" sz="1200" cap="none" dirty="0">
                <a:latin typeface="Oswald"/>
                <a:ea typeface="Oswald"/>
                <a:cs typeface="Oswald"/>
                <a:sym typeface="Oswald"/>
              </a:rPr>
              <a:t>inclusion culture.  </a:t>
            </a:r>
            <a:r>
              <a:rPr lang="en-US" sz="1200" cap="none" dirty="0">
                <a:latin typeface="Oswald"/>
                <a:ea typeface="Oswald"/>
                <a:cs typeface="Oswald"/>
                <a:sym typeface="Oswald"/>
              </a:rPr>
              <a:t>As a technological leader, </a:t>
            </a:r>
            <a:r>
              <a:rPr lang="en-US" sz="1200" cap="none" dirty="0" err="1">
                <a:latin typeface="Oswald"/>
                <a:ea typeface="Oswald"/>
                <a:cs typeface="Oswald"/>
                <a:sym typeface="Oswald"/>
              </a:rPr>
              <a:t>japan</a:t>
            </a:r>
            <a:r>
              <a:rPr lang="en-US" sz="1200" cap="none" dirty="0">
                <a:latin typeface="Oswald"/>
                <a:ea typeface="Oswald"/>
                <a:cs typeface="Oswald"/>
                <a:sym typeface="Oswald"/>
              </a:rPr>
              <a:t> will dominate the </a:t>
            </a:r>
            <a:r>
              <a:rPr lang="en-US" sz="1200" cap="none" dirty="0" err="1">
                <a:latin typeface="Oswald"/>
                <a:ea typeface="Oswald"/>
                <a:cs typeface="Oswald"/>
                <a:sym typeface="Oswald"/>
              </a:rPr>
              <a:t>asian</a:t>
            </a:r>
            <a:r>
              <a:rPr lang="en-US" sz="1200" cap="none" dirty="0">
                <a:latin typeface="Oswald"/>
                <a:ea typeface="Oswald"/>
                <a:cs typeface="Oswald"/>
                <a:sym typeface="Oswald"/>
              </a:rPr>
              <a:t> market reaching the 1</a:t>
            </a:r>
            <a:r>
              <a:rPr lang="en" sz="1200" cap="none" dirty="0">
                <a:latin typeface="Oswald"/>
                <a:ea typeface="Oswald"/>
                <a:cs typeface="Oswald"/>
                <a:sym typeface="Oswald"/>
              </a:rPr>
              <a:t>2% global paticipation by the end of 2019</a:t>
            </a:r>
            <a:r>
              <a:rPr lang="en" sz="1200" dirty="0">
                <a:latin typeface="Oswald"/>
                <a:ea typeface="Oswald"/>
                <a:cs typeface="Oswald"/>
                <a:sym typeface="Oswald"/>
              </a:rPr>
              <a:t>.</a:t>
            </a:r>
            <a:endParaRPr sz="1200" dirty="0">
              <a:latin typeface="Oswald"/>
              <a:ea typeface="Oswald"/>
              <a:cs typeface="Oswald"/>
              <a:sym typeface="Oswald"/>
            </a:endParaRPr>
          </a:p>
        </p:txBody>
      </p:sp>
      <p:sp>
        <p:nvSpPr>
          <p:cNvPr id="211" name="Google Shape;211;p33"/>
          <p:cNvSpPr txBox="1">
            <a:spLocks noGrp="1"/>
          </p:cNvSpPr>
          <p:nvPr>
            <p:ph type="body" idx="4294967295"/>
          </p:nvPr>
        </p:nvSpPr>
        <p:spPr>
          <a:xfrm>
            <a:off x="275897" y="2227204"/>
            <a:ext cx="2747963" cy="800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dirty="0">
                <a:solidFill>
                  <a:schemeClr val="accent1"/>
                </a:solidFill>
                <a:latin typeface="Oswald"/>
                <a:ea typeface="Oswald"/>
                <a:cs typeface="Oswald"/>
                <a:sym typeface="Oswald"/>
              </a:rPr>
              <a:t>Mobile Gaming Investment</a:t>
            </a:r>
            <a:endParaRPr sz="2000" dirty="0">
              <a:solidFill>
                <a:schemeClr val="accent1"/>
              </a:solidFill>
              <a:latin typeface="Oswald"/>
              <a:ea typeface="Oswald"/>
              <a:cs typeface="Oswald"/>
              <a:sym typeface="Oswald"/>
            </a:endParaRPr>
          </a:p>
        </p:txBody>
      </p:sp>
      <p:sp>
        <p:nvSpPr>
          <p:cNvPr id="212" name="Google Shape;212;p33"/>
          <p:cNvSpPr txBox="1">
            <a:spLocks noGrp="1"/>
          </p:cNvSpPr>
          <p:nvPr>
            <p:ph type="body" idx="4294967295"/>
          </p:nvPr>
        </p:nvSpPr>
        <p:spPr>
          <a:xfrm>
            <a:off x="2422525" y="2307528"/>
            <a:ext cx="6193651" cy="800100"/>
          </a:xfrm>
          <a:prstGeom prst="rect">
            <a:avLst/>
          </a:prstGeom>
        </p:spPr>
        <p:txBody>
          <a:bodyPr spcFirstLastPara="1" wrap="square" lIns="91425" tIns="91425" rIns="91425" bIns="91425" anchor="ctr" anchorCtr="0">
            <a:noAutofit/>
          </a:bodyPr>
          <a:lstStyle/>
          <a:p>
            <a:pPr marL="457200" lvl="0" indent="-298450" algn="l" rtl="0">
              <a:spcBef>
                <a:spcPts val="0"/>
              </a:spcBef>
              <a:spcAft>
                <a:spcPts val="0"/>
              </a:spcAft>
              <a:buClr>
                <a:srgbClr val="000000"/>
              </a:buClr>
              <a:buSzPts val="1100"/>
              <a:buFont typeface="Oswald"/>
              <a:buChar char="●"/>
            </a:pPr>
            <a:r>
              <a:rPr lang="en-US" sz="1200" cap="none" dirty="0">
                <a:latin typeface="Oswald"/>
                <a:ea typeface="Oswald"/>
                <a:cs typeface="Oswald"/>
                <a:sym typeface="Oswald"/>
              </a:rPr>
              <a:t>Invest in mobile gaming, particularly in </a:t>
            </a:r>
            <a:r>
              <a:rPr lang="en-US" sz="1200" cap="none" dirty="0" err="1">
                <a:latin typeface="Oswald"/>
                <a:ea typeface="Oswald"/>
                <a:cs typeface="Oswald"/>
                <a:sym typeface="Oswald"/>
              </a:rPr>
              <a:t>japan</a:t>
            </a:r>
            <a:r>
              <a:rPr lang="en-US" sz="1200" cap="none" dirty="0">
                <a:latin typeface="Oswald"/>
                <a:ea typeface="Oswald"/>
                <a:cs typeface="Oswald"/>
                <a:sym typeface="Oswald"/>
              </a:rPr>
              <a:t>, where demand for mobile-first experiences is high.  Downloadable games will take 24% of the global market by 2020</a:t>
            </a:r>
          </a:p>
          <a:p>
            <a:pPr marL="457200" lvl="0" indent="-298450" algn="l" rtl="0">
              <a:spcBef>
                <a:spcPts val="0"/>
              </a:spcBef>
              <a:spcAft>
                <a:spcPts val="0"/>
              </a:spcAft>
              <a:buClr>
                <a:srgbClr val="000000"/>
              </a:buClr>
              <a:buSzPts val="1100"/>
              <a:buFont typeface="Oswald"/>
              <a:buChar char="●"/>
            </a:pPr>
            <a:r>
              <a:rPr lang="en-US" sz="1200" cap="none" dirty="0">
                <a:latin typeface="Oswald"/>
                <a:ea typeface="Oswald"/>
                <a:cs typeface="Oswald"/>
                <a:sym typeface="Oswald"/>
              </a:rPr>
              <a:t>The perspective for the revenue of mobile games in the global market is 53%</a:t>
            </a:r>
          </a:p>
        </p:txBody>
      </p:sp>
      <p:sp>
        <p:nvSpPr>
          <p:cNvPr id="216" name="Google Shape;216;p33"/>
          <p:cNvSpPr txBox="1">
            <a:spLocks noGrp="1"/>
          </p:cNvSpPr>
          <p:nvPr>
            <p:ph type="body" idx="4294967295"/>
          </p:nvPr>
        </p:nvSpPr>
        <p:spPr>
          <a:xfrm>
            <a:off x="268838" y="3183828"/>
            <a:ext cx="2422525" cy="800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dirty="0">
                <a:solidFill>
                  <a:schemeClr val="accent1"/>
                </a:solidFill>
                <a:latin typeface="Oswald"/>
                <a:ea typeface="Oswald"/>
                <a:cs typeface="Oswald"/>
                <a:sym typeface="Oswald"/>
              </a:rPr>
              <a:t>European Expansion</a:t>
            </a:r>
            <a:endParaRPr sz="2000" dirty="0">
              <a:solidFill>
                <a:schemeClr val="accent1"/>
              </a:solidFill>
              <a:latin typeface="Oswald"/>
              <a:ea typeface="Oswald"/>
              <a:cs typeface="Oswald"/>
              <a:sym typeface="Oswald"/>
            </a:endParaRPr>
          </a:p>
        </p:txBody>
      </p:sp>
      <p:sp>
        <p:nvSpPr>
          <p:cNvPr id="217" name="Google Shape;217;p33"/>
          <p:cNvSpPr txBox="1">
            <a:spLocks noGrp="1"/>
          </p:cNvSpPr>
          <p:nvPr>
            <p:ph type="body" idx="4294967295"/>
          </p:nvPr>
        </p:nvSpPr>
        <p:spPr>
          <a:xfrm>
            <a:off x="2422525" y="3183828"/>
            <a:ext cx="5985495" cy="800100"/>
          </a:xfrm>
          <a:prstGeom prst="rect">
            <a:avLst/>
          </a:prstGeom>
        </p:spPr>
        <p:txBody>
          <a:bodyPr spcFirstLastPara="1" wrap="square" lIns="91425" tIns="91425" rIns="91425" bIns="91425" anchor="ctr" anchorCtr="0">
            <a:noAutofit/>
          </a:bodyPr>
          <a:lstStyle/>
          <a:p>
            <a:pPr marL="457200" lvl="0" indent="-298450" algn="l" rtl="0">
              <a:spcBef>
                <a:spcPts val="0"/>
              </a:spcBef>
              <a:spcAft>
                <a:spcPts val="0"/>
              </a:spcAft>
              <a:buClr>
                <a:srgbClr val="000000"/>
              </a:buClr>
              <a:buSzPts val="1100"/>
              <a:buFont typeface="Oswald"/>
              <a:buChar char="●"/>
            </a:pPr>
            <a:r>
              <a:rPr lang="en" sz="1200" cap="none" dirty="0">
                <a:latin typeface="Oswald"/>
                <a:ea typeface="Oswald"/>
                <a:cs typeface="Oswald"/>
                <a:sym typeface="Oswald"/>
              </a:rPr>
              <a:t>Expand in europe, set a goal of 10% increase between 2016 – 2017.</a:t>
            </a:r>
          </a:p>
          <a:p>
            <a:pPr marL="457200" lvl="0" indent="-298450" algn="l" rtl="0">
              <a:spcBef>
                <a:spcPts val="0"/>
              </a:spcBef>
              <a:spcAft>
                <a:spcPts val="0"/>
              </a:spcAft>
              <a:buClr>
                <a:srgbClr val="000000"/>
              </a:buClr>
              <a:buSzPts val="1100"/>
              <a:buFont typeface="Oswald"/>
              <a:buChar char="●"/>
            </a:pPr>
            <a:r>
              <a:rPr lang="en" sz="1200" cap="none" dirty="0">
                <a:latin typeface="Oswald"/>
                <a:ea typeface="Oswald"/>
                <a:cs typeface="Oswald"/>
                <a:sym typeface="Oswald"/>
              </a:rPr>
              <a:t>Re-evaluate the participation of publishers such as activision and nintendo since their market share is expected to increase by over 3% at the end of 2017</a:t>
            </a:r>
            <a:r>
              <a:rPr lang="en" sz="1200" dirty="0">
                <a:latin typeface="Oswald"/>
                <a:ea typeface="Oswald"/>
                <a:cs typeface="Oswald"/>
                <a:sym typeface="Oswald"/>
              </a:rPr>
              <a:t>.</a:t>
            </a:r>
            <a:endParaRPr sz="1200" dirty="0">
              <a:latin typeface="Oswald"/>
              <a:ea typeface="Oswald"/>
              <a:cs typeface="Oswald"/>
              <a:sym typeface="Oswa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pSp>
        <p:nvGrpSpPr>
          <p:cNvPr id="238" name="Google Shape;238;p35"/>
          <p:cNvGrpSpPr/>
          <p:nvPr/>
        </p:nvGrpSpPr>
        <p:grpSpPr>
          <a:xfrm>
            <a:off x="75427" y="3381705"/>
            <a:ext cx="8294360" cy="799447"/>
            <a:chOff x="424813" y="2974405"/>
            <a:chExt cx="8294360" cy="849933"/>
          </a:xfrm>
        </p:grpSpPr>
        <p:sp>
          <p:nvSpPr>
            <p:cNvPr id="239" name="Google Shape;239;p35"/>
            <p:cNvSpPr/>
            <p:nvPr/>
          </p:nvSpPr>
          <p:spPr>
            <a:xfrm>
              <a:off x="2927672" y="2974438"/>
              <a:ext cx="5791500" cy="849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5"/>
            <p:cNvSpPr/>
            <p:nvPr/>
          </p:nvSpPr>
          <p:spPr>
            <a:xfrm>
              <a:off x="424813" y="2974405"/>
              <a:ext cx="3055800" cy="849900"/>
            </a:xfrm>
            <a:prstGeom prst="homePlate">
              <a:avLst>
                <a:gd name="adj" fmla="val 26719"/>
              </a:avLst>
            </a:prstGeom>
            <a:solidFill>
              <a:srgbClr val="CC41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 name="Google Shape;233;p35"/>
          <p:cNvGrpSpPr/>
          <p:nvPr/>
        </p:nvGrpSpPr>
        <p:grpSpPr>
          <a:xfrm>
            <a:off x="82855" y="2508339"/>
            <a:ext cx="8294360" cy="799416"/>
            <a:chOff x="424813" y="2075689"/>
            <a:chExt cx="8294360" cy="849900"/>
          </a:xfrm>
        </p:grpSpPr>
        <p:sp>
          <p:nvSpPr>
            <p:cNvPr id="234" name="Google Shape;234;p35"/>
            <p:cNvSpPr/>
            <p:nvPr/>
          </p:nvSpPr>
          <p:spPr>
            <a:xfrm>
              <a:off x="2927672" y="2075689"/>
              <a:ext cx="5791500" cy="849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5"/>
            <p:cNvSpPr/>
            <p:nvPr/>
          </p:nvSpPr>
          <p:spPr>
            <a:xfrm>
              <a:off x="424813" y="2075689"/>
              <a:ext cx="3055800" cy="849900"/>
            </a:xfrm>
            <a:prstGeom prst="homePlate">
              <a:avLst>
                <a:gd name="adj" fmla="val 26719"/>
              </a:avLst>
            </a:prstGeom>
            <a:solidFill>
              <a:srgbClr val="CC41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35"/>
          <p:cNvGrpSpPr/>
          <p:nvPr/>
        </p:nvGrpSpPr>
        <p:grpSpPr>
          <a:xfrm>
            <a:off x="82858" y="1634973"/>
            <a:ext cx="8294371" cy="799416"/>
            <a:chOff x="424813" y="1177875"/>
            <a:chExt cx="8294371" cy="849900"/>
          </a:xfrm>
        </p:grpSpPr>
        <p:sp>
          <p:nvSpPr>
            <p:cNvPr id="230" name="Google Shape;230;p35"/>
            <p:cNvSpPr/>
            <p:nvPr/>
          </p:nvSpPr>
          <p:spPr>
            <a:xfrm>
              <a:off x="2927684" y="1177875"/>
              <a:ext cx="5791500" cy="849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 name="Google Shape;231;p35"/>
            <p:cNvSpPr/>
            <p:nvPr/>
          </p:nvSpPr>
          <p:spPr>
            <a:xfrm>
              <a:off x="424813" y="1177875"/>
              <a:ext cx="3055800" cy="849900"/>
            </a:xfrm>
            <a:prstGeom prst="homePlate">
              <a:avLst>
                <a:gd name="adj" fmla="val 26719"/>
              </a:avLst>
            </a:prstGeom>
            <a:solidFill>
              <a:srgbClr val="CC41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35"/>
          <p:cNvSpPr txBox="1">
            <a:spLocks noGrp="1"/>
          </p:cNvSpPr>
          <p:nvPr>
            <p:ph type="title"/>
          </p:nvPr>
        </p:nvSpPr>
        <p:spPr>
          <a:xfrm>
            <a:off x="968550" y="114926"/>
            <a:ext cx="720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dirty="0"/>
              <a:t>Potential Challenges and Strategies</a:t>
            </a:r>
            <a:endParaRPr sz="4200" dirty="0"/>
          </a:p>
        </p:txBody>
      </p:sp>
      <p:sp>
        <p:nvSpPr>
          <p:cNvPr id="232" name="Google Shape;232;p35"/>
          <p:cNvSpPr txBox="1">
            <a:spLocks noGrp="1"/>
          </p:cNvSpPr>
          <p:nvPr>
            <p:ph type="body" idx="4294967295"/>
          </p:nvPr>
        </p:nvSpPr>
        <p:spPr>
          <a:xfrm>
            <a:off x="399492" y="1635124"/>
            <a:ext cx="2422525" cy="798513"/>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dirty="0">
                <a:solidFill>
                  <a:schemeClr val="dk1"/>
                </a:solidFill>
                <a:latin typeface="Oswald"/>
                <a:ea typeface="Oswald"/>
                <a:cs typeface="Oswald"/>
                <a:sym typeface="Oswald"/>
              </a:rPr>
              <a:t>Cultural Differences</a:t>
            </a:r>
            <a:endParaRPr sz="2000" dirty="0">
              <a:solidFill>
                <a:schemeClr val="dk1"/>
              </a:solidFill>
              <a:latin typeface="Oswald"/>
              <a:ea typeface="Oswald"/>
              <a:cs typeface="Oswald"/>
              <a:sym typeface="Oswald"/>
            </a:endParaRPr>
          </a:p>
        </p:txBody>
      </p:sp>
      <p:sp>
        <p:nvSpPr>
          <p:cNvPr id="236" name="Google Shape;236;p35"/>
          <p:cNvSpPr txBox="1">
            <a:spLocks noGrp="1"/>
          </p:cNvSpPr>
          <p:nvPr>
            <p:ph type="body" idx="4294967295"/>
          </p:nvPr>
        </p:nvSpPr>
        <p:spPr>
          <a:xfrm>
            <a:off x="383264" y="2507997"/>
            <a:ext cx="2747963" cy="800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dirty="0">
                <a:solidFill>
                  <a:schemeClr val="dk1"/>
                </a:solidFill>
                <a:latin typeface="Oswald"/>
                <a:ea typeface="Oswald"/>
                <a:cs typeface="Oswald"/>
                <a:sym typeface="Oswald"/>
              </a:rPr>
              <a:t>Competition from Local Publishers</a:t>
            </a:r>
            <a:endParaRPr sz="2000" dirty="0">
              <a:solidFill>
                <a:schemeClr val="dk1"/>
              </a:solidFill>
              <a:latin typeface="Oswald"/>
              <a:ea typeface="Oswald"/>
              <a:cs typeface="Oswald"/>
              <a:sym typeface="Oswald"/>
            </a:endParaRPr>
          </a:p>
        </p:txBody>
      </p:sp>
      <p:sp>
        <p:nvSpPr>
          <p:cNvPr id="237" name="Google Shape;237;p35"/>
          <p:cNvSpPr txBox="1">
            <a:spLocks noGrp="1"/>
          </p:cNvSpPr>
          <p:nvPr>
            <p:ph type="body" idx="4294967295"/>
          </p:nvPr>
        </p:nvSpPr>
        <p:spPr>
          <a:xfrm>
            <a:off x="3274822" y="2495293"/>
            <a:ext cx="4725987" cy="638175"/>
          </a:xfrm>
          <a:prstGeom prst="rect">
            <a:avLst/>
          </a:prstGeom>
        </p:spPr>
        <p:txBody>
          <a:bodyPr spcFirstLastPara="1" wrap="square" lIns="91425" tIns="91425" rIns="91425" bIns="91425" anchor="ctr" anchorCtr="0">
            <a:noAutofit/>
          </a:bodyPr>
          <a:lstStyle/>
          <a:p>
            <a:pPr marL="120650" indent="0" algn="just">
              <a:spcBef>
                <a:spcPts val="1200"/>
              </a:spcBef>
              <a:buClr>
                <a:schemeClr val="dk1"/>
              </a:buClr>
              <a:buSzPts val="1700"/>
              <a:buNone/>
            </a:pPr>
            <a:r>
              <a:rPr lang="en-US" sz="1000" cap="none" dirty="0">
                <a:solidFill>
                  <a:schemeClr val="bg1"/>
                </a:solidFill>
                <a:latin typeface="Oswald"/>
                <a:ea typeface="Oswald"/>
                <a:cs typeface="Oswald"/>
                <a:sym typeface="Oswald"/>
              </a:rPr>
              <a:t>Invest in local studios. This approach can leverage local culture, preferences, and trends. It can also help navigate different regulatory environments and local expectations regarding content.</a:t>
            </a:r>
          </a:p>
        </p:txBody>
      </p:sp>
      <p:sp>
        <p:nvSpPr>
          <p:cNvPr id="241" name="Google Shape;241;p35"/>
          <p:cNvSpPr txBox="1">
            <a:spLocks noGrp="1"/>
          </p:cNvSpPr>
          <p:nvPr>
            <p:ph type="body" idx="4294967295"/>
          </p:nvPr>
        </p:nvSpPr>
        <p:spPr>
          <a:xfrm>
            <a:off x="383264" y="3373375"/>
            <a:ext cx="2747963" cy="800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dirty="0">
                <a:solidFill>
                  <a:schemeClr val="dk1"/>
                </a:solidFill>
                <a:latin typeface="Oswald"/>
                <a:ea typeface="Oswald"/>
                <a:cs typeface="Oswald"/>
                <a:sym typeface="Oswald"/>
              </a:rPr>
              <a:t>Technological adaptation</a:t>
            </a:r>
            <a:endParaRPr sz="2000" dirty="0">
              <a:solidFill>
                <a:schemeClr val="dk1"/>
              </a:solidFill>
              <a:latin typeface="Oswald"/>
              <a:ea typeface="Oswald"/>
              <a:cs typeface="Oswald"/>
              <a:sym typeface="Oswald"/>
            </a:endParaRPr>
          </a:p>
        </p:txBody>
      </p:sp>
      <p:sp>
        <p:nvSpPr>
          <p:cNvPr id="242" name="Google Shape;242;p35"/>
          <p:cNvSpPr txBox="1">
            <a:spLocks noGrp="1"/>
          </p:cNvSpPr>
          <p:nvPr>
            <p:ph type="body" idx="4294967295"/>
          </p:nvPr>
        </p:nvSpPr>
        <p:spPr>
          <a:xfrm>
            <a:off x="3221516" y="1677988"/>
            <a:ext cx="5095834" cy="712787"/>
          </a:xfrm>
          <a:prstGeom prst="rect">
            <a:avLst/>
          </a:prstGeom>
        </p:spPr>
        <p:txBody>
          <a:bodyPr spcFirstLastPara="1" wrap="square" lIns="91425" tIns="91425" rIns="91425" bIns="91425" anchor="ctr" anchorCtr="0">
            <a:noAutofit/>
          </a:bodyPr>
          <a:lstStyle/>
          <a:p>
            <a:pPr marL="120650" indent="0" algn="just">
              <a:lnSpc>
                <a:spcPct val="115000"/>
              </a:lnSpc>
              <a:spcBef>
                <a:spcPts val="0"/>
              </a:spcBef>
              <a:buClr>
                <a:schemeClr val="dk1"/>
              </a:buClr>
              <a:buSzPts val="1700"/>
              <a:buNone/>
            </a:pPr>
            <a:r>
              <a:rPr lang="en-US" sz="1000" cap="none" dirty="0">
                <a:solidFill>
                  <a:schemeClr val="bg1"/>
                </a:solidFill>
                <a:latin typeface="Oswald"/>
                <a:ea typeface="Oswald"/>
                <a:cs typeface="Oswald"/>
                <a:sym typeface="Oswald"/>
              </a:rPr>
              <a:t>Develop games that reflect local narratives and characters to increase engagement.</a:t>
            </a:r>
          </a:p>
          <a:p>
            <a:pPr algn="just">
              <a:buClr>
                <a:schemeClr val="dk1"/>
              </a:buClr>
              <a:buSzPts val="1700"/>
            </a:pPr>
            <a:r>
              <a:rPr lang="en-US" sz="1000" cap="none" dirty="0">
                <a:solidFill>
                  <a:schemeClr val="bg1"/>
                </a:solidFill>
                <a:latin typeface="Oswald"/>
                <a:ea typeface="Oswald"/>
                <a:cs typeface="Oswald"/>
                <a:sym typeface="Oswald"/>
              </a:rPr>
              <a:t>Focus on genre preferences. Consider blending popular genres.  </a:t>
            </a:r>
          </a:p>
          <a:p>
            <a:pPr algn="just">
              <a:buClr>
                <a:schemeClr val="dk1"/>
              </a:buClr>
              <a:buSzPts val="1700"/>
            </a:pPr>
            <a:r>
              <a:rPr lang="en-US" sz="1000" cap="none" dirty="0">
                <a:solidFill>
                  <a:schemeClr val="bg1"/>
                </a:solidFill>
                <a:latin typeface="Oswald"/>
                <a:ea typeface="Oswald"/>
                <a:cs typeface="Oswald"/>
                <a:sym typeface="Oswald"/>
              </a:rPr>
              <a:t>Adapt marketing campaigns to reflect local culture and values.</a:t>
            </a:r>
          </a:p>
        </p:txBody>
      </p:sp>
      <p:sp>
        <p:nvSpPr>
          <p:cNvPr id="243" name="Google Shape;243;p35"/>
          <p:cNvSpPr txBox="1"/>
          <p:nvPr/>
        </p:nvSpPr>
        <p:spPr>
          <a:xfrm>
            <a:off x="3704275" y="3523375"/>
            <a:ext cx="4530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accent3"/>
              </a:solidFill>
              <a:latin typeface="Average"/>
              <a:ea typeface="Average"/>
              <a:cs typeface="Average"/>
              <a:sym typeface="Average"/>
            </a:endParaRPr>
          </a:p>
        </p:txBody>
      </p:sp>
      <p:sp>
        <p:nvSpPr>
          <p:cNvPr id="244" name="Google Shape;244;p35"/>
          <p:cNvSpPr txBox="1"/>
          <p:nvPr/>
        </p:nvSpPr>
        <p:spPr>
          <a:xfrm>
            <a:off x="2948792" y="3523375"/>
            <a:ext cx="4836900" cy="650100"/>
          </a:xfrm>
          <a:prstGeom prst="rect">
            <a:avLst/>
          </a:prstGeom>
          <a:noFill/>
          <a:ln>
            <a:noFill/>
          </a:ln>
        </p:spPr>
        <p:txBody>
          <a:bodyPr spcFirstLastPara="1" wrap="square" lIns="91425" tIns="91425" rIns="91425" bIns="91425" anchor="t" anchorCtr="0">
            <a:noAutofit/>
          </a:bodyPr>
          <a:lstStyle/>
          <a:p>
            <a:pPr marL="457200" lvl="0" indent="-336550" algn="just" rtl="0">
              <a:lnSpc>
                <a:spcPct val="115000"/>
              </a:lnSpc>
              <a:spcBef>
                <a:spcPts val="0"/>
              </a:spcBef>
              <a:spcAft>
                <a:spcPts val="0"/>
              </a:spcAft>
              <a:buClr>
                <a:schemeClr val="dk1"/>
              </a:buClr>
              <a:buSzPts val="1700"/>
              <a:buFont typeface="Oswald"/>
              <a:buChar char="●"/>
            </a:pPr>
            <a:r>
              <a:rPr lang="en-US" sz="1100" dirty="0">
                <a:solidFill>
                  <a:schemeClr val="bg1"/>
                </a:solidFill>
                <a:latin typeface="Oswald"/>
                <a:ea typeface="Oswald"/>
                <a:cs typeface="Oswald"/>
                <a:sym typeface="Oswald"/>
              </a:rPr>
              <a:t>Utilize emerging technologies such as Virtual Reality to provide fresh experiences to the players.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6"/>
          <p:cNvSpPr txBox="1">
            <a:spLocks noGrp="1"/>
          </p:cNvSpPr>
          <p:nvPr>
            <p:ph type="title"/>
          </p:nvPr>
        </p:nvSpPr>
        <p:spPr>
          <a:xfrm>
            <a:off x="645900" y="123525"/>
            <a:ext cx="7852200" cy="86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200" dirty="0"/>
              <a:t>Conclusion</a:t>
            </a:r>
            <a:endParaRPr sz="4200" dirty="0"/>
          </a:p>
        </p:txBody>
      </p:sp>
      <p:sp>
        <p:nvSpPr>
          <p:cNvPr id="3" name="TextBox 2">
            <a:extLst>
              <a:ext uri="{FF2B5EF4-FFF2-40B4-BE49-F238E27FC236}">
                <a16:creationId xmlns:a16="http://schemas.microsoft.com/office/drawing/2014/main" id="{9433683C-26A2-3128-1648-A04BE13CF5D8}"/>
              </a:ext>
            </a:extLst>
          </p:cNvPr>
          <p:cNvSpPr txBox="1"/>
          <p:nvPr/>
        </p:nvSpPr>
        <p:spPr>
          <a:xfrm>
            <a:off x="818221" y="984525"/>
            <a:ext cx="7181850" cy="3847207"/>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Oswald" panose="00000500000000000000" pitchFamily="2" charset="0"/>
              </a:rPr>
              <a:t>Focus on mobile gaming, particularly in Japan, where mobile-first gamers, especially women, prefer puzzle games.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Oswald" panose="00000500000000000000" pitchFamily="2" charset="0"/>
              </a:rPr>
              <a:t>European expansion should be prioritized, with a target of a 10% increase in market share between 2016 and 2017.</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Oswald" panose="00000500000000000000" pitchFamily="2" charset="0"/>
              </a:rPr>
              <a:t>North America needs revitalization, with an emphasis on underexplored genres and platforms.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Oswald" panose="00000500000000000000" pitchFamily="2" charset="0"/>
              </a:rPr>
              <a:t> Europe's participation in the global video game market is expected to rise by 3%, while North America's is projected to decline by 1% yearly through 2019.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Oswald" panose="00000500000000000000" pitchFamily="2" charset="0"/>
              </a:rPr>
              <a:t>Japan is expected to increase global participation by 12% by 2019.</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i="0" u="none" strike="noStrike" cap="none" normalizeH="0" baseline="0" dirty="0">
                <a:ln>
                  <a:noFill/>
                </a:ln>
                <a:solidFill>
                  <a:schemeClr val="tx1"/>
                </a:solidFill>
                <a:effectLst/>
                <a:latin typeface="Oswald" panose="00000500000000000000" pitchFamily="2" charset="0"/>
              </a:rPr>
              <a:t>Mobile Gaming Investment:</a:t>
            </a:r>
            <a:r>
              <a:rPr kumimoji="0" lang="en-US" altLang="en-US" sz="1400" b="0" i="0" u="none" strike="noStrike" cap="none" normalizeH="0" baseline="0" dirty="0">
                <a:ln>
                  <a:noFill/>
                </a:ln>
                <a:solidFill>
                  <a:schemeClr val="tx1"/>
                </a:solidFill>
                <a:effectLst/>
                <a:latin typeface="Oswald" panose="00000500000000000000" pitchFamily="2" charset="0"/>
              </a:rPr>
              <a:t> The global mobile gaming market is projected to capture 53% of revenue by 2020, with downloadable games contributing 24% of the global market.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Oswald" panose="00000500000000000000" pitchFamily="2" charset="0"/>
            </a:endParaRPr>
          </a:p>
          <a:p>
            <a:pPr algn="just"/>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Custom 6">
      <a:majorFont>
        <a:latin typeface="Gill Sans MT"/>
        <a:ea typeface=""/>
        <a:cs typeface=""/>
      </a:majorFont>
      <a:minorFont>
        <a:latin typeface="Gill Sans MT"/>
        <a:ea typeface=""/>
        <a:cs typeface=""/>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Main Event</Template>
  <TotalTime>679</TotalTime>
  <Words>1736</Words>
  <Application>Microsoft Office PowerPoint</Application>
  <PresentationFormat>On-screen Show (16:9)</PresentationFormat>
  <Paragraphs>205</Paragraphs>
  <Slides>17</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Average</vt:lpstr>
      <vt:lpstr>Gill Sans MT</vt:lpstr>
      <vt:lpstr>Lato</vt:lpstr>
      <vt:lpstr>Oswald</vt:lpstr>
      <vt:lpstr>Wingdings</vt:lpstr>
      <vt:lpstr>Arial</vt:lpstr>
      <vt:lpstr>Main Event</vt:lpstr>
      <vt:lpstr>Video Game Analysis GameCo</vt:lpstr>
      <vt:lpstr>Overview</vt:lpstr>
      <vt:lpstr>Understanding the problem</vt:lpstr>
      <vt:lpstr>PowerPoint Presentation</vt:lpstr>
      <vt:lpstr>Regional Trends:  Descriptive Analysis</vt:lpstr>
      <vt:lpstr>Region participation in sales over time:  Global sales are progressively decreasing, and North America is reducing sales participation, which has opened opportunities to Europe and Japan in the global Video Game market.    </vt:lpstr>
      <vt:lpstr>Gamer population  According to data from 2015, 49% of north americans (specifically in the united states) reported playing video games, meaning roughly half of the population play video games.  Average gamers age: 31y.O.  Key points: Gender:  nearly equal percentages of men (50%) and women (48%) reported playing video games in north america.</vt:lpstr>
      <vt:lpstr>Genre Preferences:</vt:lpstr>
      <vt:lpstr>PowerPoint Presentation</vt:lpstr>
      <vt:lpstr>Publishers Performance</vt:lpstr>
      <vt:lpstr>Publisher’s Performance</vt:lpstr>
      <vt:lpstr>Platform Trends</vt:lpstr>
      <vt:lpstr>Platform Trends</vt:lpstr>
      <vt:lpstr>Future Outlook</vt:lpstr>
      <vt:lpstr>Recommendations</vt:lpstr>
      <vt:lpstr>Potential Challenges and Strategies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Mary Kane</cp:lastModifiedBy>
  <cp:revision>3</cp:revision>
  <dcterms:modified xsi:type="dcterms:W3CDTF">2026-02-16T14:20:36Z</dcterms:modified>
</cp:coreProperties>
</file>